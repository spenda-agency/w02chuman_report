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906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GoogleSlidesCustomDataVersion2">
      <go:slidesCustomData xmlns:go="http://customooxmlschemas.google.com/" r:id="rId20" roundtripDataSignature="AMtx7mhYfuW8mxafQin1Xf8bJvEZVphe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1731"/>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1731"/>
          </a:xfrm>
          <a:prstGeom prst="rect">
            <a:avLst/>
          </a:prstGeom>
          <a:noFill/>
          <a:ln>
            <a:noFill/>
          </a:ln>
        </p:spPr>
        <p:txBody>
          <a:bodyPr anchorCtr="0" anchor="t" bIns="49525" lIns="99075" spcFirstLastPara="1" rIns="99075" wrap="square" tIns="495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6"/>
            <a:ext cx="3078427" cy="511731"/>
          </a:xfrm>
          <a:prstGeom prst="rect">
            <a:avLst/>
          </a:prstGeom>
          <a:noFill/>
          <a:ln>
            <a:noFill/>
          </a:ln>
        </p:spPr>
        <p:txBody>
          <a:bodyPr anchorCtr="0" anchor="b"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ja-JP"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3: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20" name="Google Shape;120;p3: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36" name="Google Shape;136;p4: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52" name="Google Shape;152;p5: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6: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83" name="Google Shape;183;p7: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8: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99" name="Google Shape;199;p8: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f93b66ce31_0_12: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2f93b66ce31_0_12: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14" name="Google Shape;214;g2f93b66ce31_0_12:notes"/>
          <p:cNvSpPr txBox="1"/>
          <p:nvPr>
            <p:ph idx="12" type="sldNum"/>
          </p:nvPr>
        </p:nvSpPr>
        <p:spPr>
          <a:xfrm>
            <a:off x="4023992" y="9721106"/>
            <a:ext cx="3078300" cy="511800"/>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e331d7859d_0_0: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2e331d7859d_0_0: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35" name="Google Shape;235;g2e331d7859d_0_0:notes"/>
          <p:cNvSpPr txBox="1"/>
          <p:nvPr>
            <p:ph idx="12" type="sldNum"/>
          </p:nvPr>
        </p:nvSpPr>
        <p:spPr>
          <a:xfrm>
            <a:off x="4023992" y="9721106"/>
            <a:ext cx="3078300" cy="511800"/>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9: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56" name="Google Shape;256;p9: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7fba19d031_0_30: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68" name="Google Shape;268;g27fba19d031_0_30: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826ca313d_2_16: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82" name="Google Shape;282;g34826ca313d_2_16:notes"/>
          <p:cNvSpPr/>
          <p:nvPr>
            <p:ph idx="2" type="sldImg"/>
          </p:nvPr>
        </p:nvSpPr>
        <p:spPr>
          <a:xfrm>
            <a:off x="781050" y="768350"/>
            <a:ext cx="55419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4: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95" name="Google Shape;295;p24:notes"/>
          <p:cNvSpPr/>
          <p:nvPr>
            <p:ph idx="2" type="sldImg"/>
          </p:nvPr>
        </p:nvSpPr>
        <p:spPr>
          <a:xfrm>
            <a:off x="781050" y="768350"/>
            <a:ext cx="55419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742950" y="2130426"/>
            <a:ext cx="84201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プレースホルダなし">
  <p:cSld name=" プレースホルダなし">
    <p:spTree>
      <p:nvGrpSpPr>
        <p:cNvPr id="21" name="Shape 21"/>
        <p:cNvGrpSpPr/>
        <p:nvPr/>
      </p:nvGrpSpPr>
      <p:grpSpPr>
        <a:xfrm>
          <a:off x="0" y="0"/>
          <a:ext cx="0" cy="0"/>
          <a:chOff x="0" y="0"/>
          <a:chExt cx="0" cy="0"/>
        </a:xfrm>
      </p:grpSpPr>
      <p:sp>
        <p:nvSpPr>
          <p:cNvPr id="22" name="Google Shape;22;p13"/>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24" name="Shape 24"/>
        <p:cNvGrpSpPr/>
        <p:nvPr/>
      </p:nvGrpSpPr>
      <p:grpSpPr>
        <a:xfrm>
          <a:off x="0" y="0"/>
          <a:ext cx="0" cy="0"/>
          <a:chOff x="0" y="0"/>
          <a:chExt cx="0" cy="0"/>
        </a:xfrm>
      </p:grpSpPr>
      <p:sp>
        <p:nvSpPr>
          <p:cNvPr id="25" name="Google Shape;25;p14"/>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 type="body"/>
          </p:nvPr>
        </p:nvSpPr>
        <p:spPr>
          <a:xfrm>
            <a:off x="495300" y="1600201"/>
            <a:ext cx="89154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14"/>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type="secHead">
  <p:cSld name="SECTION_HEADER">
    <p:spTree>
      <p:nvGrpSpPr>
        <p:cNvPr id="30" name="Shape 30"/>
        <p:cNvGrpSpPr/>
        <p:nvPr/>
      </p:nvGrpSpPr>
      <p:grpSpPr>
        <a:xfrm>
          <a:off x="0" y="0"/>
          <a:ext cx="0" cy="0"/>
          <a:chOff x="0" y="0"/>
          <a:chExt cx="0" cy="0"/>
        </a:xfrm>
      </p:grpSpPr>
      <p:sp>
        <p:nvSpPr>
          <p:cNvPr id="31" name="Google Shape;31;p15"/>
          <p:cNvSpPr txBox="1"/>
          <p:nvPr>
            <p:ph type="title"/>
          </p:nvPr>
        </p:nvSpPr>
        <p:spPr>
          <a:xfrm>
            <a:off x="782506" y="4406901"/>
            <a:ext cx="84201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 type="body"/>
          </p:nvPr>
        </p:nvSpPr>
        <p:spPr>
          <a:xfrm>
            <a:off x="782506" y="2906713"/>
            <a:ext cx="84201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3" name="Google Shape;33;p15"/>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36" name="Shape 36"/>
        <p:cNvGrpSpPr/>
        <p:nvPr/>
      </p:nvGrpSpPr>
      <p:grpSpPr>
        <a:xfrm>
          <a:off x="0" y="0"/>
          <a:ext cx="0" cy="0"/>
          <a:chOff x="0" y="0"/>
          <a:chExt cx="0" cy="0"/>
        </a:xfrm>
      </p:grpSpPr>
      <p:sp>
        <p:nvSpPr>
          <p:cNvPr id="37" name="Google Shape;37;p16"/>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495300" y="1600201"/>
            <a:ext cx="437515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16"/>
          <p:cNvSpPr txBox="1"/>
          <p:nvPr>
            <p:ph idx="2" type="body"/>
          </p:nvPr>
        </p:nvSpPr>
        <p:spPr>
          <a:xfrm>
            <a:off x="5035550" y="1600201"/>
            <a:ext cx="437515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6"/>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6"/>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3" name="Shape 43"/>
        <p:cNvGrpSpPr/>
        <p:nvPr/>
      </p:nvGrpSpPr>
      <p:grpSpPr>
        <a:xfrm>
          <a:off x="0" y="0"/>
          <a:ext cx="0" cy="0"/>
          <a:chOff x="0" y="0"/>
          <a:chExt cx="0" cy="0"/>
        </a:xfrm>
      </p:grpSpPr>
      <p:sp>
        <p:nvSpPr>
          <p:cNvPr id="44" name="Google Shape;44;p17"/>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 type="body"/>
          </p:nvPr>
        </p:nvSpPr>
        <p:spPr>
          <a:xfrm>
            <a:off x="495300" y="1535113"/>
            <a:ext cx="4376870"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17"/>
          <p:cNvSpPr txBox="1"/>
          <p:nvPr>
            <p:ph idx="2" type="body"/>
          </p:nvPr>
        </p:nvSpPr>
        <p:spPr>
          <a:xfrm>
            <a:off x="495300" y="2174875"/>
            <a:ext cx="4376870"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17"/>
          <p:cNvSpPr txBox="1"/>
          <p:nvPr>
            <p:ph idx="3" type="body"/>
          </p:nvPr>
        </p:nvSpPr>
        <p:spPr>
          <a:xfrm>
            <a:off x="5032111" y="1535113"/>
            <a:ext cx="4378590"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17"/>
          <p:cNvSpPr txBox="1"/>
          <p:nvPr>
            <p:ph idx="4" type="body"/>
          </p:nvPr>
        </p:nvSpPr>
        <p:spPr>
          <a:xfrm>
            <a:off x="5032111" y="2174875"/>
            <a:ext cx="4378590"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17"/>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52" name="Shape 52"/>
        <p:cNvGrpSpPr/>
        <p:nvPr/>
      </p:nvGrpSpPr>
      <p:grpSpPr>
        <a:xfrm>
          <a:off x="0" y="0"/>
          <a:ext cx="0" cy="0"/>
          <a:chOff x="0" y="0"/>
          <a:chExt cx="0" cy="0"/>
        </a:xfrm>
      </p:grpSpPr>
      <p:sp>
        <p:nvSpPr>
          <p:cNvPr id="53" name="Google Shape;53;p18"/>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8"/>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57" name="Shape 57"/>
        <p:cNvGrpSpPr/>
        <p:nvPr/>
      </p:nvGrpSpPr>
      <p:grpSpPr>
        <a:xfrm>
          <a:off x="0" y="0"/>
          <a:ext cx="0" cy="0"/>
          <a:chOff x="0" y="0"/>
          <a:chExt cx="0" cy="0"/>
        </a:xfrm>
      </p:grpSpPr>
      <p:sp>
        <p:nvSpPr>
          <p:cNvPr id="58" name="Google Shape;58;p19"/>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495300" y="273050"/>
            <a:ext cx="3259006"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 type="body"/>
          </p:nvPr>
        </p:nvSpPr>
        <p:spPr>
          <a:xfrm>
            <a:off x="3872971" y="273051"/>
            <a:ext cx="5537729"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4" name="Google Shape;64;p20"/>
          <p:cNvSpPr txBox="1"/>
          <p:nvPr>
            <p:ph idx="2" type="body"/>
          </p:nvPr>
        </p:nvSpPr>
        <p:spPr>
          <a:xfrm>
            <a:off x="495300" y="1435101"/>
            <a:ext cx="3259006"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68" name="Shape 68"/>
        <p:cNvGrpSpPr/>
        <p:nvPr/>
      </p:nvGrpSpPr>
      <p:grpSpPr>
        <a:xfrm>
          <a:off x="0" y="0"/>
          <a:ext cx="0" cy="0"/>
          <a:chOff x="0" y="0"/>
          <a:chExt cx="0" cy="0"/>
        </a:xfrm>
      </p:grpSpPr>
      <p:sp>
        <p:nvSpPr>
          <p:cNvPr id="69" name="Google Shape;69;p21"/>
          <p:cNvSpPr txBox="1"/>
          <p:nvPr>
            <p:ph type="title"/>
          </p:nvPr>
        </p:nvSpPr>
        <p:spPr>
          <a:xfrm>
            <a:off x="1941645" y="4800600"/>
            <a:ext cx="59436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p:nvPr>
            <p:ph idx="2" type="pic"/>
          </p:nvPr>
        </p:nvSpPr>
        <p:spPr>
          <a:xfrm>
            <a:off x="1941645" y="612775"/>
            <a:ext cx="5943600" cy="4114800"/>
          </a:xfrm>
          <a:prstGeom prst="rect">
            <a:avLst/>
          </a:prstGeom>
          <a:noFill/>
          <a:ln>
            <a:noFill/>
          </a:ln>
        </p:spPr>
      </p:sp>
      <p:sp>
        <p:nvSpPr>
          <p:cNvPr id="71" name="Google Shape;71;p21"/>
          <p:cNvSpPr txBox="1"/>
          <p:nvPr>
            <p:ph idx="1" type="body"/>
          </p:nvPr>
        </p:nvSpPr>
        <p:spPr>
          <a:xfrm>
            <a:off x="1941645" y="5367338"/>
            <a:ext cx="59436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2" name="Google Shape;72;p21"/>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75" name="Shape 75"/>
        <p:cNvGrpSpPr/>
        <p:nvPr/>
      </p:nvGrpSpPr>
      <p:grpSpPr>
        <a:xfrm>
          <a:off x="0" y="0"/>
          <a:ext cx="0" cy="0"/>
          <a:chOff x="0" y="0"/>
          <a:chExt cx="0" cy="0"/>
        </a:xfrm>
      </p:grpSpPr>
      <p:sp>
        <p:nvSpPr>
          <p:cNvPr id="76" name="Google Shape;76;p22"/>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 type="body"/>
          </p:nvPr>
        </p:nvSpPr>
        <p:spPr>
          <a:xfrm rot="5400000">
            <a:off x="2690018" y="-594518"/>
            <a:ext cx="4525963" cy="8915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p22"/>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縦書きテキスト" type="vertTitleAndTx">
  <p:cSld name="VERTICAL_TITLE_AND_VERTICAL_TEXT">
    <p:spTree>
      <p:nvGrpSpPr>
        <p:cNvPr id="81" name="Shape 81"/>
        <p:cNvGrpSpPr/>
        <p:nvPr/>
      </p:nvGrpSpPr>
      <p:grpSpPr>
        <a:xfrm>
          <a:off x="0" y="0"/>
          <a:ext cx="0" cy="0"/>
          <a:chOff x="0" y="0"/>
          <a:chExt cx="0" cy="0"/>
        </a:xfrm>
      </p:grpSpPr>
      <p:sp>
        <p:nvSpPr>
          <p:cNvPr id="82" name="Google Shape;82;p23"/>
          <p:cNvSpPr txBox="1"/>
          <p:nvPr>
            <p:ph type="title"/>
          </p:nvPr>
        </p:nvSpPr>
        <p:spPr>
          <a:xfrm rot="5400000">
            <a:off x="5370512" y="2085976"/>
            <a:ext cx="5851525" cy="22288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 type="body"/>
          </p:nvPr>
        </p:nvSpPr>
        <p:spPr>
          <a:xfrm rot="5400000">
            <a:off x="830262" y="-60323"/>
            <a:ext cx="5851525" cy="65214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p23"/>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3"/>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3"/>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495300" y="1600201"/>
            <a:ext cx="89154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3.jp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506506" y="620688"/>
            <a:ext cx="9023610" cy="50452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ja-JP" sz="3600" u="none" cap="none" strike="noStrike">
                <a:solidFill>
                  <a:srgbClr val="002060"/>
                </a:solidFill>
                <a:latin typeface="Arial"/>
                <a:ea typeface="Arial"/>
                <a:cs typeface="Arial"/>
                <a:sym typeface="Arial"/>
              </a:rPr>
              <a:t>中萬学院　広報室　御中</a:t>
            </a:r>
            <a:endParaRPr b="0" i="0" sz="3600" u="none" cap="none" strike="noStrike">
              <a:solidFill>
                <a:srgbClr val="002060"/>
              </a:solidFill>
              <a:latin typeface="Arial"/>
              <a:ea typeface="Arial"/>
              <a:cs typeface="Arial"/>
              <a:sym typeface="Arial"/>
            </a:endParaRPr>
          </a:p>
        </p:txBody>
      </p:sp>
      <p:sp>
        <p:nvSpPr>
          <p:cNvPr id="93" name="Google Shape;93;p1"/>
          <p:cNvSpPr txBox="1"/>
          <p:nvPr/>
        </p:nvSpPr>
        <p:spPr>
          <a:xfrm>
            <a:off x="271250" y="1584769"/>
            <a:ext cx="9023700" cy="859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ja-JP" sz="3600" u="none" cap="none" strike="noStrike">
                <a:solidFill>
                  <a:srgbClr val="002060"/>
                </a:solidFill>
                <a:latin typeface="Arial"/>
                <a:ea typeface="Arial"/>
                <a:cs typeface="Arial"/>
                <a:sym typeface="Arial"/>
              </a:rPr>
              <a:t>	</a:t>
            </a:r>
            <a:r>
              <a:rPr lang="ja-JP" sz="3600">
                <a:solidFill>
                  <a:srgbClr val="002060"/>
                </a:solidFill>
              </a:rPr>
              <a:t>7</a:t>
            </a:r>
            <a:r>
              <a:rPr b="0" i="0" lang="ja-JP" sz="3600" u="none" cap="none" strike="noStrike">
                <a:solidFill>
                  <a:srgbClr val="002060"/>
                </a:solidFill>
                <a:latin typeface="Arial"/>
                <a:ea typeface="Arial"/>
                <a:cs typeface="Arial"/>
                <a:sym typeface="Arial"/>
              </a:rPr>
              <a:t>月分有料広告報告書</a:t>
            </a:r>
            <a:endParaRPr b="0" i="0" sz="3600" u="none" cap="none" strike="noStrike">
              <a:solidFill>
                <a:srgbClr val="002060"/>
              </a:solidFill>
              <a:latin typeface="Arial"/>
              <a:ea typeface="Arial"/>
              <a:cs typeface="Arial"/>
              <a:sym typeface="Arial"/>
            </a:endParaRPr>
          </a:p>
        </p:txBody>
      </p:sp>
      <p:sp>
        <p:nvSpPr>
          <p:cNvPr id="94" name="Google Shape;94;p1"/>
          <p:cNvSpPr txBox="1"/>
          <p:nvPr/>
        </p:nvSpPr>
        <p:spPr>
          <a:xfrm>
            <a:off x="5122032" y="5229200"/>
            <a:ext cx="4029408" cy="1050607"/>
          </a:xfrm>
          <a:prstGeom prst="rect">
            <a:avLst/>
          </a:prstGeom>
          <a:noFill/>
          <a:ln>
            <a:noFill/>
          </a:ln>
        </p:spPr>
        <p:txBody>
          <a:bodyPr anchorCtr="0" anchor="t" bIns="91425" lIns="91425" spcFirstLastPara="1" rIns="91425" wrap="square" tIns="91425">
            <a:noAutofit/>
          </a:bodyPr>
          <a:lstStyle/>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Arial"/>
                <a:ea typeface="Arial"/>
                <a:cs typeface="Arial"/>
                <a:sym typeface="Arial"/>
              </a:rPr>
              <a:t>システム・アシスト</a:t>
            </a:r>
            <a:endParaRPr b="0" i="0" sz="3200" u="none" cap="none" strike="noStrike">
              <a:solidFill>
                <a:srgbClr val="002060"/>
              </a:solidFill>
              <a:latin typeface="Arial"/>
              <a:ea typeface="Arial"/>
              <a:cs typeface="Arial"/>
              <a:sym typeface="Arial"/>
            </a:endParaRPr>
          </a:p>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Arial"/>
                <a:ea typeface="Arial"/>
                <a:cs typeface="Arial"/>
                <a:sym typeface="Arial"/>
              </a:rPr>
              <a:t>SPENDA</a:t>
            </a:r>
            <a:endParaRPr b="0" i="0" sz="3200" u="none" cap="none" strike="noStrike">
              <a:solidFill>
                <a:srgbClr val="002060"/>
              </a:solidFill>
              <a:latin typeface="Arial"/>
              <a:ea typeface="Arial"/>
              <a:cs typeface="Arial"/>
              <a:sym typeface="Arial"/>
            </a:endParaRPr>
          </a:p>
        </p:txBody>
      </p:sp>
      <p:sp>
        <p:nvSpPr>
          <p:cNvPr id="95" name="Google Shape;95;p1"/>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96" name="Google Shape;96;p1"/>
          <p:cNvSpPr txBox="1"/>
          <p:nvPr/>
        </p:nvSpPr>
        <p:spPr>
          <a:xfrm>
            <a:off x="1208584" y="3215452"/>
            <a:ext cx="6718720" cy="1482655"/>
          </a:xfrm>
          <a:prstGeom prst="rect">
            <a:avLst/>
          </a:prstGeom>
          <a:noFill/>
          <a:ln>
            <a:noFill/>
          </a:ln>
        </p:spPr>
        <p:txBody>
          <a:bodyPr anchorCtr="0" anchor="t" bIns="91425" lIns="91425" spcFirstLastPara="1" rIns="91425" wrap="square" tIns="91425">
            <a:noAutofit/>
          </a:bodyPr>
          <a:lstStyle/>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Meiryo"/>
                <a:ea typeface="Meiryo"/>
                <a:cs typeface="Meiryo"/>
                <a:sym typeface="Meiryo"/>
              </a:rPr>
              <a:t>1. 昨年度との比較結果</a:t>
            </a:r>
            <a:endParaRPr b="0" i="0" sz="3200" u="none" cap="none" strike="noStrike">
              <a:solidFill>
                <a:srgbClr val="002060"/>
              </a:solidFill>
              <a:latin typeface="Meiryo"/>
              <a:ea typeface="Meiryo"/>
              <a:cs typeface="Meiryo"/>
              <a:sym typeface="Meiryo"/>
            </a:endParaRPr>
          </a:p>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Meiryo"/>
                <a:ea typeface="Meiryo"/>
                <a:cs typeface="Meiryo"/>
                <a:sym typeface="Meiryo"/>
              </a:rPr>
              <a:t>2. 詳細結果と改善施策</a:t>
            </a:r>
            <a:endParaRPr b="0" i="0" sz="3200" u="none" cap="none" strike="noStrike">
              <a:solidFill>
                <a:srgbClr val="002060"/>
              </a:solidFill>
              <a:latin typeface="Meiryo"/>
              <a:ea typeface="Meiryo"/>
              <a:cs typeface="Meiryo"/>
              <a:sym typeface="Meiryo"/>
            </a:endParaRPr>
          </a:p>
        </p:txBody>
      </p:sp>
      <p:sp>
        <p:nvSpPr>
          <p:cNvPr id="97" name="Google Shape;97;p1"/>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a:off x="-8736" y="0"/>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06" name="Google Shape;106;p2"/>
          <p:cNvSpPr txBox="1"/>
          <p:nvPr/>
        </p:nvSpPr>
        <p:spPr>
          <a:xfrm>
            <a:off x="326686" y="2122103"/>
            <a:ext cx="2538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sng" cap="none" strike="noStrike">
                <a:solidFill>
                  <a:schemeClr val="dk1"/>
                </a:solidFill>
                <a:latin typeface="Meiryo"/>
                <a:ea typeface="Meiryo"/>
                <a:cs typeface="Meiryo"/>
                <a:sym typeface="Meiryo"/>
              </a:rPr>
              <a:t>有料広告全体</a:t>
            </a:r>
            <a:endParaRPr b="0" i="0" sz="2000" u="sng" cap="none" strike="noStrike">
              <a:solidFill>
                <a:schemeClr val="dk1"/>
              </a:solidFill>
              <a:latin typeface="Meiryo"/>
              <a:ea typeface="Meiryo"/>
              <a:cs typeface="Meiryo"/>
              <a:sym typeface="Meiryo"/>
            </a:endParaRPr>
          </a:p>
        </p:txBody>
      </p:sp>
      <p:sp>
        <p:nvSpPr>
          <p:cNvPr id="107" name="Google Shape;107;p2"/>
          <p:cNvSpPr txBox="1"/>
          <p:nvPr/>
        </p:nvSpPr>
        <p:spPr>
          <a:xfrm>
            <a:off x="776535" y="200543"/>
            <a:ext cx="9129465"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全体結果、過去同月との比較</a:t>
            </a:r>
            <a:endParaRPr b="1" i="0" sz="2400" u="none" cap="none" strike="noStrike">
              <a:solidFill>
                <a:srgbClr val="002060"/>
              </a:solidFill>
              <a:latin typeface="Arial"/>
              <a:ea typeface="Arial"/>
              <a:cs typeface="Arial"/>
              <a:sym typeface="Arial"/>
            </a:endParaRPr>
          </a:p>
        </p:txBody>
      </p:sp>
      <p:grpSp>
        <p:nvGrpSpPr>
          <p:cNvPr id="108" name="Google Shape;108;p2"/>
          <p:cNvGrpSpPr/>
          <p:nvPr/>
        </p:nvGrpSpPr>
        <p:grpSpPr>
          <a:xfrm>
            <a:off x="197301" y="169894"/>
            <a:ext cx="576001" cy="576000"/>
            <a:chOff x="295350" y="259019"/>
            <a:chExt cx="614400" cy="614399"/>
          </a:xfrm>
        </p:grpSpPr>
        <p:sp>
          <p:nvSpPr>
            <p:cNvPr id="109" name="Google Shape;109;p2"/>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10" name="Google Shape;110;p2"/>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11" name="Google Shape;111;p2"/>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2"/>
          <p:cNvSpPr txBox="1"/>
          <p:nvPr/>
        </p:nvSpPr>
        <p:spPr>
          <a:xfrm>
            <a:off x="2" y="973483"/>
            <a:ext cx="9906000" cy="955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1200"/>
              </a:spcAft>
              <a:buClr>
                <a:schemeClr val="dk1"/>
              </a:buClr>
              <a:buSzPts val="1100"/>
              <a:buFont typeface="Arial"/>
              <a:buNone/>
            </a:pPr>
            <a:r>
              <a:rPr sz="1700" b="0">
                <a:latin typeface="Arial"/>
              </a:rPr>
              <a:t>GoogleやYahoo!の全体CPAは8,013円で、昨年同月（8,814円）よりやや改善しました。媒体別ではGoogleのほうがYahoo!よりCPAが低く、効率よくCVを獲得できています。前月は夏期講習募集のピークでCV125件と伸びましたが、7月はCV84件と落ち着き、昨年同月（82件）とほぼ同水準を維持しています。引き続き効率の高いGoogleを軸に運用していきます。</a:t>
            </a:r>
            <a:endParaRPr b="0" i="0" sz="1700" u="none" cap="none" strike="noStrike">
              <a:solidFill>
                <a:schemeClr val="dk1"/>
              </a:solidFill>
              <a:latin typeface="Arial"/>
              <a:ea typeface="Arial"/>
              <a:cs typeface="Arial"/>
              <a:sym typeface="Arial"/>
            </a:endParaRPr>
          </a:p>
        </p:txBody>
      </p:sp>
      <p:sp>
        <p:nvSpPr>
          <p:cNvPr id="113" name="Google Shape;113;p2"/>
          <p:cNvSpPr txBox="1"/>
          <p:nvPr/>
        </p:nvSpPr>
        <p:spPr>
          <a:xfrm>
            <a:off x="5434416" y="6143858"/>
            <a:ext cx="4054048"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JP" sz="1400" u="none" cap="none" strike="noStrike">
                <a:solidFill>
                  <a:schemeClr val="dk1"/>
                </a:solidFill>
                <a:latin typeface="Meiryo"/>
                <a:ea typeface="Meiryo"/>
                <a:cs typeface="Meiryo"/>
                <a:sym typeface="Meiryo"/>
              </a:rPr>
              <a:t>※レポート作成時の比較（翌月2日前後）</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JP" sz="1400" u="none" cap="none" strike="noStrike">
                <a:solidFill>
                  <a:schemeClr val="dk1"/>
                </a:solidFill>
                <a:latin typeface="Meiryo"/>
                <a:ea typeface="Meiryo"/>
                <a:cs typeface="Meiryo"/>
                <a:sym typeface="Meiryo"/>
              </a:rPr>
              <a:t>※Instagram/Microsoft広告分は除く</a:t>
            </a:r>
            <a:endParaRPr b="0" i="0" sz="1400" u="none" cap="none" strike="noStrike">
              <a:solidFill>
                <a:schemeClr val="dk1"/>
              </a:solidFill>
              <a:latin typeface="Meiryo"/>
              <a:ea typeface="Meiryo"/>
              <a:cs typeface="Meiryo"/>
              <a:sym typeface="Meiryo"/>
            </a:endParaRPr>
          </a:p>
        </p:txBody>
      </p:sp>
      <p:sp>
        <p:nvSpPr>
          <p:cNvPr id="114" name="Google Shape;114;p2"/>
          <p:cNvSpPr txBox="1"/>
          <p:nvPr/>
        </p:nvSpPr>
        <p:spPr>
          <a:xfrm>
            <a:off x="326676" y="3632622"/>
            <a:ext cx="283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sng" cap="none" strike="noStrike">
                <a:solidFill>
                  <a:schemeClr val="dk1"/>
                </a:solidFill>
                <a:latin typeface="Meiryo"/>
                <a:ea typeface="Meiryo"/>
                <a:cs typeface="Meiryo"/>
                <a:sym typeface="Meiryo"/>
              </a:rPr>
              <a:t>Google,Yahoo別</a:t>
            </a:r>
            <a:endParaRPr b="0" i="0" sz="2000" u="sng" cap="none" strike="noStrike">
              <a:solidFill>
                <a:schemeClr val="dk1"/>
              </a:solidFill>
              <a:latin typeface="Meiryo"/>
              <a:ea typeface="Meiryo"/>
              <a:cs typeface="Meiryo"/>
              <a:sym typeface="Meiryo"/>
            </a:endParaRPr>
          </a:p>
        </p:txBody>
      </p:sp>
      <p:sp>
        <p:nvSpPr>
          <p:cNvPr id="115" name="Google Shape;115;p2"/>
          <p:cNvSpPr/>
          <p:nvPr/>
        </p:nvSpPr>
        <p:spPr>
          <a:xfrm>
            <a:off x="6171000" y="4032816"/>
            <a:ext cx="2807400" cy="15063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 name="Google Shape;116;p2"/>
          <p:cNvSpPr/>
          <p:nvPr/>
        </p:nvSpPr>
        <p:spPr>
          <a:xfrm>
            <a:off x="6058800" y="5623628"/>
            <a:ext cx="2919600" cy="3450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3"/>
          <p:cNvSpPr txBox="1"/>
          <p:nvPr>
            <p:ph idx="12" type="sldNum"/>
          </p:nvPr>
        </p:nvSpPr>
        <p:spPr>
          <a:xfrm>
            <a:off x="9705552" y="6673947"/>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24" name="Google Shape;124;p3"/>
          <p:cNvSpPr txBox="1"/>
          <p:nvPr/>
        </p:nvSpPr>
        <p:spPr>
          <a:xfrm>
            <a:off x="55800" y="905626"/>
            <a:ext cx="97944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sz="1700" b="0">
                <a:latin typeface="Arial"/>
              </a:rPr>
              <a:t>GoogleがCV獲得の中心となっており、CV全体の約8割を占めています。手法別では検索が54件と中心で、次いでP-MAXが21件でした。前月と比べるとGoogle・Yahoo!ともに件数は落ち着いていますが、スマートフォン中心の傾向は変わっていません。引き続き効率の高いGoogle検索を軸に獲得を進めていきます。</a:t>
            </a:r>
            <a:endParaRPr b="0" i="0" sz="1700" u="none" cap="none" strike="noStrike">
              <a:solidFill>
                <a:schemeClr val="dk1"/>
              </a:solidFill>
              <a:latin typeface="Arial"/>
              <a:ea typeface="Arial"/>
              <a:cs typeface="Arial"/>
              <a:sym typeface="Arial"/>
            </a:endParaRPr>
          </a:p>
        </p:txBody>
      </p:sp>
      <p:grpSp>
        <p:nvGrpSpPr>
          <p:cNvPr id="125" name="Google Shape;125;p3"/>
          <p:cNvGrpSpPr/>
          <p:nvPr/>
        </p:nvGrpSpPr>
        <p:grpSpPr>
          <a:xfrm>
            <a:off x="197301" y="169894"/>
            <a:ext cx="576001" cy="576000"/>
            <a:chOff x="295350" y="259019"/>
            <a:chExt cx="614400" cy="614399"/>
          </a:xfrm>
        </p:grpSpPr>
        <p:sp>
          <p:nvSpPr>
            <p:cNvPr id="126" name="Google Shape;126;p3"/>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27" name="Google Shape;127;p3"/>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28" name="Google Shape;128;p3"/>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 name="Google Shape;129;p3"/>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媒体/デバイス/検索ディスプレイ別結果</a:t>
            </a:r>
            <a:endParaRPr b="1" i="0" sz="2400" u="none" cap="none" strike="noStrike">
              <a:solidFill>
                <a:srgbClr val="002060"/>
              </a:solidFill>
              <a:latin typeface="Arial"/>
              <a:ea typeface="Arial"/>
              <a:cs typeface="Arial"/>
              <a:sym typeface="Arial"/>
            </a:endParaRPr>
          </a:p>
        </p:txBody>
      </p:sp>
      <p:pic>
        <p:nvPicPr>
          <p:cNvPr id="130" name="Google Shape;130;p3"/>
          <p:cNvPicPr preferRelativeResize="0"/>
          <p:nvPr/>
        </p:nvPicPr>
        <p:blipFill rotWithShape="1">
          <a:blip r:embed="rId4">
            <a:alphaModFix/>
          </a:blip>
          <a:srcRect b="0" l="0" r="0" t="0"/>
          <a:stretch/>
        </p:blipFill>
        <p:spPr>
          <a:xfrm>
            <a:off x="8987475" y="2690975"/>
            <a:ext cx="862725" cy="738025"/>
          </a:xfrm>
          <a:prstGeom prst="rect">
            <a:avLst/>
          </a:prstGeom>
          <a:noFill/>
          <a:ln>
            <a:noFill/>
          </a:ln>
        </p:spPr>
      </p:pic>
      <p:pic>
        <p:nvPicPr>
          <p:cNvPr id="131" name="Google Shape;131;p3"/>
          <p:cNvPicPr preferRelativeResize="0"/>
          <p:nvPr/>
        </p:nvPicPr>
        <p:blipFill rotWithShape="1">
          <a:blip r:embed="rId5">
            <a:alphaModFix/>
          </a:blip>
          <a:srcRect b="0" l="0" r="0" t="0"/>
          <a:stretch/>
        </p:blipFill>
        <p:spPr>
          <a:xfrm>
            <a:off x="8890875" y="4957300"/>
            <a:ext cx="862725" cy="893545"/>
          </a:xfrm>
          <a:prstGeom prst="rect">
            <a:avLst/>
          </a:prstGeom>
          <a:noFill/>
          <a:ln>
            <a:noFill/>
          </a:ln>
        </p:spPr>
      </p:pic>
      <p:sp>
        <p:nvSpPr>
          <p:cNvPr id="132" name="Google Shape;132;p3"/>
          <p:cNvSpPr/>
          <p:nvPr/>
        </p:nvSpPr>
        <p:spPr>
          <a:xfrm>
            <a:off x="8410925" y="2011125"/>
            <a:ext cx="480000" cy="44022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p:nvPr/>
        </p:nvSpPr>
        <p:spPr>
          <a:xfrm>
            <a:off x="1701"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4"/>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CV種類の月次推移</a:t>
            </a:r>
            <a:endParaRPr b="1" i="0" sz="2400" u="none" cap="none" strike="noStrike">
              <a:solidFill>
                <a:srgbClr val="002060"/>
              </a:solidFill>
              <a:latin typeface="Arial"/>
              <a:ea typeface="Arial"/>
              <a:cs typeface="Arial"/>
              <a:sym typeface="Arial"/>
            </a:endParaRPr>
          </a:p>
        </p:txBody>
      </p:sp>
      <p:sp>
        <p:nvSpPr>
          <p:cNvPr id="140" name="Google Shape;140;p4"/>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41" name="Google Shape;141;p4"/>
          <p:cNvSpPr txBox="1"/>
          <p:nvPr/>
        </p:nvSpPr>
        <p:spPr>
          <a:xfrm>
            <a:off x="27300" y="996975"/>
            <a:ext cx="9810600" cy="654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1200"/>
              </a:spcAft>
              <a:buClr>
                <a:schemeClr val="dk1"/>
              </a:buClr>
              <a:buSzPts val="1100"/>
              <a:buFont typeface="Arial"/>
              <a:buNone/>
            </a:pPr>
            <a:r>
              <a:rPr sz="1700" b="0">
                <a:latin typeface="Arial"/>
              </a:rPr>
              <a:t>CVはqubo経由が最も多い傾向は変わっていません。当月はqubo経由が34件で最多、次いで体験学習24件、資料請求17件でした。前月（qubo経由68件）からは夏期講習募集ピークの反動で件数が落ち着きましたが、昨年同月とほぼ同水準です。引き続き各CV導線のバランスを見ながら獲得を進めていきます。</a:t>
            </a:r>
            <a:endParaRPr b="0" i="0" sz="1700" u="none" cap="none" strike="noStrike">
              <a:solidFill>
                <a:schemeClr val="dk1"/>
              </a:solidFill>
              <a:latin typeface="Arial"/>
              <a:ea typeface="Arial"/>
              <a:cs typeface="Arial"/>
              <a:sym typeface="Arial"/>
            </a:endParaRPr>
          </a:p>
        </p:txBody>
      </p:sp>
      <p:sp>
        <p:nvSpPr>
          <p:cNvPr id="142" name="Google Shape;142;p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43" name="Google Shape;143;p4"/>
          <p:cNvGrpSpPr/>
          <p:nvPr/>
        </p:nvGrpSpPr>
        <p:grpSpPr>
          <a:xfrm>
            <a:off x="197301" y="169894"/>
            <a:ext cx="576001" cy="576000"/>
            <a:chOff x="295350" y="259019"/>
            <a:chExt cx="614400" cy="614399"/>
          </a:xfrm>
        </p:grpSpPr>
        <p:sp>
          <p:nvSpPr>
            <p:cNvPr id="144" name="Google Shape;144;p4"/>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45" name="Google Shape;145;p4"/>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pic>
        <p:nvPicPr>
          <p:cNvPr id="146" name="Google Shape;146;p4"/>
          <p:cNvPicPr preferRelativeResize="0"/>
          <p:nvPr/>
        </p:nvPicPr>
        <p:blipFill rotWithShape="1">
          <a:blip r:embed="rId4">
            <a:alphaModFix/>
          </a:blip>
          <a:srcRect b="0" l="0" r="0" t="0"/>
          <a:stretch/>
        </p:blipFill>
        <p:spPr>
          <a:xfrm>
            <a:off x="9026150" y="2590800"/>
            <a:ext cx="742950" cy="1219200"/>
          </a:xfrm>
          <a:prstGeom prst="rect">
            <a:avLst/>
          </a:prstGeom>
          <a:noFill/>
          <a:ln>
            <a:noFill/>
          </a:ln>
        </p:spPr>
      </p:pic>
      <p:sp>
        <p:nvSpPr>
          <p:cNvPr id="147" name="Google Shape;147;p4"/>
          <p:cNvSpPr/>
          <p:nvPr/>
        </p:nvSpPr>
        <p:spPr>
          <a:xfrm>
            <a:off x="8401100" y="4100775"/>
            <a:ext cx="473700" cy="11076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 name="Google Shape;148;p4"/>
          <p:cNvSpPr/>
          <p:nvPr/>
        </p:nvSpPr>
        <p:spPr>
          <a:xfrm>
            <a:off x="8312400" y="5297150"/>
            <a:ext cx="544200" cy="10722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5"/>
          <p:cNvSpPr txBox="1"/>
          <p:nvPr/>
        </p:nvSpPr>
        <p:spPr>
          <a:xfrm>
            <a:off x="773302" y="173655"/>
            <a:ext cx="84345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キャンペーン別CV数結果 (chuman.jp)</a:t>
            </a:r>
            <a:endParaRPr b="1" i="0" sz="2400" u="none" cap="none" strike="noStrike">
              <a:solidFill>
                <a:srgbClr val="002060"/>
              </a:solidFill>
              <a:latin typeface="Arial"/>
              <a:ea typeface="Arial"/>
              <a:cs typeface="Arial"/>
              <a:sym typeface="Arial"/>
            </a:endParaRPr>
          </a:p>
        </p:txBody>
      </p:sp>
      <p:sp>
        <p:nvSpPr>
          <p:cNvPr id="156" name="Google Shape;156;p5"/>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57" name="Google Shape;157;p5"/>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58" name="Google Shape;158;p5"/>
          <p:cNvGrpSpPr/>
          <p:nvPr/>
        </p:nvGrpSpPr>
        <p:grpSpPr>
          <a:xfrm>
            <a:off x="197301" y="169894"/>
            <a:ext cx="576000" cy="576000"/>
            <a:chOff x="295350" y="259019"/>
            <a:chExt cx="614400" cy="614400"/>
          </a:xfrm>
        </p:grpSpPr>
        <p:sp>
          <p:nvSpPr>
            <p:cNvPr id="159" name="Google Shape;159;p5"/>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60" name="Google Shape;160;p5"/>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161" name="Google Shape;161;p5"/>
          <p:cNvSpPr txBox="1"/>
          <p:nvPr/>
        </p:nvSpPr>
        <p:spPr>
          <a:xfrm>
            <a:off x="72594" y="924720"/>
            <a:ext cx="9760800" cy="654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1200"/>
              </a:spcAft>
              <a:buClr>
                <a:schemeClr val="dk1"/>
              </a:buClr>
              <a:buSzPts val="1100"/>
              <a:buFont typeface="Arial"/>
              <a:buNone/>
            </a:pPr>
            <a:r>
              <a:rPr sz="1700" b="0">
                <a:latin typeface="Arial"/>
              </a:rPr>
              <a:t>中萬学院のCVが昨年より増加しています（指名系で昨年の約39件から61件へ）。CVは指名系（中萬学院）が61件と引き続き最多で、次いでP-MAX経由が21件でした。前月からは件数が落ち着いていますが、指名検索とP-MAXが全体を支える構図は変わっていません。引き続き好調な2キャンペーンを軸に運用します。</a:t>
            </a:r>
            <a:endParaRPr b="0" i="0" sz="1700" u="none" cap="none" strike="noStrike">
              <a:solidFill>
                <a:schemeClr val="dk1"/>
              </a:solidFill>
              <a:latin typeface="Arial"/>
              <a:ea typeface="Arial"/>
              <a:cs typeface="Arial"/>
              <a:sym typeface="Arial"/>
            </a:endParaRPr>
          </a:p>
        </p:txBody>
      </p:sp>
      <p:sp>
        <p:nvSpPr>
          <p:cNvPr id="162" name="Google Shape;162;p5"/>
          <p:cNvSpPr txBox="1"/>
          <p:nvPr/>
        </p:nvSpPr>
        <p:spPr>
          <a:xfrm>
            <a:off x="218783" y="2464116"/>
            <a:ext cx="314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キャンペーン月別結果</a:t>
            </a:r>
            <a:endParaRPr b="1" i="0" sz="1800" u="sng" cap="none" strike="noStrike">
              <a:solidFill>
                <a:schemeClr val="dk1"/>
              </a:solidFill>
              <a:latin typeface="Arial"/>
              <a:ea typeface="Arial"/>
              <a:cs typeface="Arial"/>
              <a:sym typeface="Arial"/>
            </a:endParaRPr>
          </a:p>
        </p:txBody>
      </p:sp>
      <p:sp>
        <p:nvSpPr>
          <p:cNvPr id="163" name="Google Shape;163;p5"/>
          <p:cNvSpPr txBox="1"/>
          <p:nvPr/>
        </p:nvSpPr>
        <p:spPr>
          <a:xfrm>
            <a:off x="7216420" y="6325594"/>
            <a:ext cx="2725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none" cap="none" strike="noStrike">
                <a:solidFill>
                  <a:srgbClr val="000000"/>
                </a:solidFill>
                <a:latin typeface="Arial"/>
                <a:ea typeface="Arial"/>
                <a:cs typeface="Arial"/>
                <a:sym typeface="Arial"/>
              </a:rPr>
              <a:t>緑：増加　赤：減少</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6"/>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rPr>
              <a:t>‹#›</a:t>
            </a:fld>
            <a:endParaRPr b="1">
              <a:solidFill>
                <a:schemeClr val="lt1"/>
              </a:solidFill>
            </a:endParaRPr>
          </a:p>
        </p:txBody>
      </p:sp>
      <p:sp>
        <p:nvSpPr>
          <p:cNvPr id="171" name="Google Shape;171;p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6"/>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中萬学院、中高一貫　KW別結果</a:t>
            </a:r>
            <a:endParaRPr b="1" i="0" sz="2400" u="none" cap="none" strike="noStrike">
              <a:solidFill>
                <a:srgbClr val="002060"/>
              </a:solidFill>
              <a:latin typeface="Arial"/>
              <a:ea typeface="Arial"/>
              <a:cs typeface="Arial"/>
              <a:sym typeface="Arial"/>
            </a:endParaRPr>
          </a:p>
        </p:txBody>
      </p:sp>
      <p:sp>
        <p:nvSpPr>
          <p:cNvPr id="173" name="Google Shape;173;p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4" name="Google Shape;174;p6"/>
          <p:cNvSpPr txBox="1"/>
          <p:nvPr/>
        </p:nvSpPr>
        <p:spPr>
          <a:xfrm>
            <a:off x="28948" y="901434"/>
            <a:ext cx="9906000" cy="1410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chemeClr val="dk1"/>
              </a:buClr>
              <a:buSzPts val="1100"/>
              <a:buFont typeface="Arial"/>
              <a:buNone/>
            </a:pPr>
            <a:r>
              <a:rPr sz="1700" b="0">
                <a:solidFill>
                  <a:srgbClr val="000000"/>
                </a:solidFill>
                <a:latin typeface="Arial"/>
              </a:rPr>
              <a:t>中萬学院系のCVは引き続き多く獲得されています。Google・Yahoo!ともに「中萬学院」系キーワードからの獲得が中心で、指名検索はほぼ取りこぼしなく獲得できています。中高一貫は1件のCVを獲得しました。引き続きCV獲得実績のあるキーワードを中心に展開を継続していきます。</a:t>
            </a:r>
            <a:endParaRPr b="0" i="0" sz="1700" u="none" cap="none" strike="noStrike">
              <a:solidFill>
                <a:srgbClr val="000000"/>
              </a:solidFill>
              <a:latin typeface="Arial"/>
              <a:ea typeface="Arial"/>
              <a:cs typeface="Arial"/>
              <a:sym typeface="Arial"/>
            </a:endParaRPr>
          </a:p>
        </p:txBody>
      </p:sp>
      <p:grpSp>
        <p:nvGrpSpPr>
          <p:cNvPr id="175" name="Google Shape;175;p6"/>
          <p:cNvGrpSpPr/>
          <p:nvPr/>
        </p:nvGrpSpPr>
        <p:grpSpPr>
          <a:xfrm>
            <a:off x="197301" y="169894"/>
            <a:ext cx="576001" cy="576000"/>
            <a:chOff x="295350" y="259019"/>
            <a:chExt cx="614400" cy="614399"/>
          </a:xfrm>
        </p:grpSpPr>
        <p:sp>
          <p:nvSpPr>
            <p:cNvPr id="176" name="Google Shape;176;p6"/>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77" name="Google Shape;177;p6"/>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78" name="Google Shape;178;p6"/>
          <p:cNvSpPr txBox="1"/>
          <p:nvPr/>
        </p:nvSpPr>
        <p:spPr>
          <a:xfrm>
            <a:off x="197295" y="2051214"/>
            <a:ext cx="410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中萬学院</a:t>
            </a:r>
            <a:endParaRPr b="1" i="0" sz="1800" u="sng" cap="none" strike="noStrike">
              <a:solidFill>
                <a:schemeClr val="dk1"/>
              </a:solidFill>
              <a:latin typeface="Arial"/>
              <a:ea typeface="Arial"/>
              <a:cs typeface="Arial"/>
              <a:sym typeface="Arial"/>
            </a:endParaRPr>
          </a:p>
        </p:txBody>
      </p:sp>
      <p:sp>
        <p:nvSpPr>
          <p:cNvPr id="179" name="Google Shape;179;p6"/>
          <p:cNvSpPr txBox="1"/>
          <p:nvPr/>
        </p:nvSpPr>
        <p:spPr>
          <a:xfrm>
            <a:off x="4979700" y="2062818"/>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中高一貫</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 name="Google Shape;186;p7"/>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rPr>
              <a:t>‹#›</a:t>
            </a:fld>
            <a:endParaRPr b="1">
              <a:solidFill>
                <a:schemeClr val="lt1"/>
              </a:solidFill>
            </a:endParaRPr>
          </a:p>
        </p:txBody>
      </p:sp>
      <p:sp>
        <p:nvSpPr>
          <p:cNvPr id="187" name="Google Shape;187;p7"/>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8" name="Google Shape;188;p7"/>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学校掛け合わせ、地名掛合せKW別結果</a:t>
            </a:r>
            <a:endParaRPr b="1" i="0" sz="2400" u="none" cap="none" strike="noStrike">
              <a:solidFill>
                <a:srgbClr val="002060"/>
              </a:solidFill>
              <a:latin typeface="Arial"/>
              <a:ea typeface="Arial"/>
              <a:cs typeface="Arial"/>
              <a:sym typeface="Arial"/>
            </a:endParaRPr>
          </a:p>
        </p:txBody>
      </p:sp>
      <p:sp>
        <p:nvSpPr>
          <p:cNvPr id="189" name="Google Shape;189;p7"/>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 name="Google Shape;190;p7"/>
          <p:cNvSpPr txBox="1"/>
          <p:nvPr/>
        </p:nvSpPr>
        <p:spPr>
          <a:xfrm>
            <a:off x="176400" y="954188"/>
            <a:ext cx="95532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sz="1700" b="0">
                <a:latin typeface="Arial"/>
              </a:rPr>
              <a:t>今月はCVは獲得されませんでした。学校掛け合わせでは平塚中等を中心に運用しましたが、CVは0件でした。地名掛け合わせについても、今月はCVは獲得されませんでした。引き続きCV確度の高いキーワードに絞って少額で運用を続けます。</a:t>
            </a:r>
            <a:endParaRPr b="0" i="0" sz="1700" u="none" cap="none" strike="noStrike">
              <a:solidFill>
                <a:schemeClr val="dk1"/>
              </a:solidFill>
              <a:latin typeface="Arial"/>
              <a:ea typeface="Arial"/>
              <a:cs typeface="Arial"/>
              <a:sym typeface="Arial"/>
            </a:endParaRPr>
          </a:p>
        </p:txBody>
      </p:sp>
      <p:grpSp>
        <p:nvGrpSpPr>
          <p:cNvPr id="191" name="Google Shape;191;p7"/>
          <p:cNvGrpSpPr/>
          <p:nvPr/>
        </p:nvGrpSpPr>
        <p:grpSpPr>
          <a:xfrm>
            <a:off x="197301" y="169894"/>
            <a:ext cx="576001" cy="576000"/>
            <a:chOff x="295350" y="259019"/>
            <a:chExt cx="614400" cy="614399"/>
          </a:xfrm>
        </p:grpSpPr>
        <p:sp>
          <p:nvSpPr>
            <p:cNvPr id="192" name="Google Shape;192;p7"/>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93" name="Google Shape;193;p7"/>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94" name="Google Shape;194;p7"/>
          <p:cNvSpPr txBox="1"/>
          <p:nvPr/>
        </p:nvSpPr>
        <p:spPr>
          <a:xfrm>
            <a:off x="4882875" y="2135403"/>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地名掛け合わせ</a:t>
            </a:r>
            <a:endParaRPr b="1" i="0" sz="1800" u="sng" cap="none" strike="noStrike">
              <a:solidFill>
                <a:schemeClr val="dk1"/>
              </a:solidFill>
              <a:latin typeface="Arial"/>
              <a:ea typeface="Arial"/>
              <a:cs typeface="Arial"/>
              <a:sym typeface="Arial"/>
            </a:endParaRPr>
          </a:p>
        </p:txBody>
      </p:sp>
      <p:sp>
        <p:nvSpPr>
          <p:cNvPr id="195" name="Google Shape;195;p7"/>
          <p:cNvSpPr txBox="1"/>
          <p:nvPr/>
        </p:nvSpPr>
        <p:spPr>
          <a:xfrm>
            <a:off x="61607" y="2122990"/>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学校掛け合わせ</a:t>
            </a:r>
            <a:endParaRPr b="1" i="0" sz="1800" u="sng"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nvSpPr>
        <p:spPr>
          <a:xfrm>
            <a:off x="19050" y="923875"/>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sz="1700" b="0">
                <a:solidFill>
                  <a:srgbClr val="000000"/>
                </a:solidFill>
                <a:latin typeface="Arial"/>
              </a:rPr>
              <a:t>CVはGoogleで1件、Yahoo!で0件獲得されました。グループ別では、Googleの「その他」グループから1件のCVを獲得しています。前月からは件数が落ち着いていますが、引き続き各グループの配分を調整しながらCV獲得を狙います。</a:t>
            </a:r>
            <a:endParaRPr b="0" i="0" sz="1700" u="none" cap="none" strike="noStrike">
              <a:solidFill>
                <a:srgbClr val="000000"/>
              </a:solidFill>
              <a:latin typeface="Arial"/>
              <a:ea typeface="Arial"/>
              <a:cs typeface="Arial"/>
              <a:sym typeface="Arial"/>
            </a:endParaRPr>
          </a:p>
        </p:txBody>
      </p:sp>
      <p:sp>
        <p:nvSpPr>
          <p:cNvPr id="202" name="Google Shape;202;p8"/>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3" name="Google Shape;203;p8"/>
          <p:cNvSpPr txBox="1"/>
          <p:nvPr>
            <p:ph idx="12" type="sldNum"/>
          </p:nvPr>
        </p:nvSpPr>
        <p:spPr>
          <a:xfrm>
            <a:off x="9488464" y="6698636"/>
            <a:ext cx="433088" cy="20148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04" name="Google Shape;204;p8"/>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05" name="Google Shape;205;p8"/>
          <p:cNvGrpSpPr/>
          <p:nvPr/>
        </p:nvGrpSpPr>
        <p:grpSpPr>
          <a:xfrm>
            <a:off x="197301" y="169894"/>
            <a:ext cx="576001" cy="576000"/>
            <a:chOff x="295350" y="259019"/>
            <a:chExt cx="614400" cy="614399"/>
          </a:xfrm>
        </p:grpSpPr>
        <p:sp>
          <p:nvSpPr>
            <p:cNvPr id="206" name="Google Shape;206;p8"/>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07" name="Google Shape;207;p8"/>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208" name="Google Shape;208;p8"/>
          <p:cNvSpPr/>
          <p:nvPr/>
        </p:nvSpPr>
        <p:spPr>
          <a:xfrm>
            <a:off x="69524" y="6102129"/>
            <a:ext cx="85938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Arial"/>
                <a:ea typeface="Arial"/>
                <a:cs typeface="Arial"/>
                <a:sym typeface="Arial"/>
              </a:rPr>
              <a:t>優先リスト：「flow/merit/form/qa/exp」を含むURLへ訪問3-7日以内のユーザー</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Arial"/>
                <a:ea typeface="Arial"/>
                <a:cs typeface="Arial"/>
                <a:sym typeface="Arial"/>
              </a:rPr>
              <a:t>除外設定済：24歳以下、65歳以上、神奈川県以外、セッション5以上、CV済ユーザー</a:t>
            </a:r>
            <a:endParaRPr b="0" i="0" sz="1400" u="none" cap="none" strike="noStrike">
              <a:solidFill>
                <a:srgbClr val="000000"/>
              </a:solidFill>
              <a:latin typeface="Arial"/>
              <a:ea typeface="Arial"/>
              <a:cs typeface="Arial"/>
              <a:sym typeface="Arial"/>
            </a:endParaRPr>
          </a:p>
        </p:txBody>
      </p:sp>
      <p:sp>
        <p:nvSpPr>
          <p:cNvPr id="209" name="Google Shape;209;p8"/>
          <p:cNvSpPr txBox="1"/>
          <p:nvPr/>
        </p:nvSpPr>
        <p:spPr>
          <a:xfrm>
            <a:off x="776535" y="173655"/>
            <a:ext cx="8932164"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リマーケティング/ディスプレイその他　グループ別結果(GDN/YDA)</a:t>
            </a:r>
            <a:endParaRPr b="0" i="0" sz="1400" u="none" cap="none" strike="noStrike">
              <a:solidFill>
                <a:srgbClr val="000000"/>
              </a:solidFill>
              <a:latin typeface="Arial"/>
              <a:ea typeface="Arial"/>
              <a:cs typeface="Arial"/>
              <a:sym typeface="Arial"/>
            </a:endParaRPr>
          </a:p>
        </p:txBody>
      </p:sp>
      <p:pic>
        <p:nvPicPr>
          <p:cNvPr id="210" name="Google Shape;210;p8"/>
          <p:cNvPicPr preferRelativeResize="0"/>
          <p:nvPr/>
        </p:nvPicPr>
        <p:blipFill rotWithShape="1">
          <a:blip r:embed="rId4">
            <a:alphaModFix/>
          </a:blip>
          <a:srcRect b="51281" l="0" r="0" t="0"/>
          <a:stretch/>
        </p:blipFill>
        <p:spPr>
          <a:xfrm>
            <a:off x="8847758" y="2251960"/>
            <a:ext cx="857250" cy="584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f93b66ce31_0_12"/>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 name="Google Shape;217;g2f93b66ce31_0_12"/>
          <p:cNvSpPr txBox="1"/>
          <p:nvPr>
            <p:ph idx="12" type="sldNum"/>
          </p:nvPr>
        </p:nvSpPr>
        <p:spPr>
          <a:xfrm>
            <a:off x="9488464" y="6698636"/>
            <a:ext cx="433200" cy="201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ja-JP"/>
              <a:t>‹#›</a:t>
            </a:fld>
            <a:endParaRPr/>
          </a:p>
        </p:txBody>
      </p:sp>
      <p:sp>
        <p:nvSpPr>
          <p:cNvPr id="218" name="Google Shape;218;g2f93b66ce31_0_12"/>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9" name="Google Shape;219;g2f93b66ce31_0_12"/>
          <p:cNvSpPr txBox="1"/>
          <p:nvPr/>
        </p:nvSpPr>
        <p:spPr>
          <a:xfrm>
            <a:off x="19050" y="908720"/>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sz="1700" b="0">
                <a:latin typeface="Arial"/>
              </a:rPr>
              <a:t>テキスト広告は配信量こそ少ないものの、1件のCV・CVR25%と高い成果につながっています。イメージ画像・デマンドジェネレーション・レスポンシブディスプレイは流入を獲得しているものの、CV獲得には至っていません。流入先別では、Yahoo!の中高一貫ページから1件のCVを獲得しました。引き続き反応の良い配信タイプに予算を寄せていきます。</a:t>
            </a:r>
            <a:endParaRPr b="0" i="0" sz="1700" u="none" cap="none" strike="noStrike">
              <a:solidFill>
                <a:schemeClr val="dk1"/>
              </a:solidFill>
              <a:latin typeface="Arial"/>
              <a:ea typeface="Arial"/>
              <a:cs typeface="Arial"/>
              <a:sym typeface="Arial"/>
            </a:endParaRPr>
          </a:p>
        </p:txBody>
      </p:sp>
      <p:grpSp>
        <p:nvGrpSpPr>
          <p:cNvPr id="220" name="Google Shape;220;g2f93b66ce31_0_12"/>
          <p:cNvGrpSpPr/>
          <p:nvPr/>
        </p:nvGrpSpPr>
        <p:grpSpPr>
          <a:xfrm>
            <a:off x="197301" y="169894"/>
            <a:ext cx="576000" cy="576000"/>
            <a:chOff x="295350" y="259019"/>
            <a:chExt cx="614400" cy="614400"/>
          </a:xfrm>
        </p:grpSpPr>
        <p:sp>
          <p:nvSpPr>
            <p:cNvPr id="221" name="Google Shape;221;g2f93b66ce31_0_12"/>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22" name="Google Shape;222;g2f93b66ce31_0_12"/>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23" name="Google Shape;223;g2f93b66ce31_0_12"/>
          <p:cNvSpPr txBox="1"/>
          <p:nvPr/>
        </p:nvSpPr>
        <p:spPr>
          <a:xfrm>
            <a:off x="776535" y="173655"/>
            <a:ext cx="89322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バナー種類別　詳細結果</a:t>
            </a:r>
            <a:endParaRPr b="0" i="0" sz="1400" u="none" cap="none" strike="noStrike">
              <a:solidFill>
                <a:srgbClr val="000000"/>
              </a:solidFill>
              <a:latin typeface="Arial"/>
              <a:ea typeface="Arial"/>
              <a:cs typeface="Arial"/>
              <a:sym typeface="Arial"/>
            </a:endParaRPr>
          </a:p>
        </p:txBody>
      </p:sp>
      <p:sp>
        <p:nvSpPr>
          <p:cNvPr id="224" name="Google Shape;224;g2f93b66ce31_0_12"/>
          <p:cNvSpPr txBox="1"/>
          <p:nvPr/>
        </p:nvSpPr>
        <p:spPr>
          <a:xfrm>
            <a:off x="192527" y="2206967"/>
            <a:ext cx="439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広告タイプ別結果</a:t>
            </a:r>
            <a:endParaRPr b="1" i="0" sz="1400" u="sng" cap="none" strike="noStrike">
              <a:solidFill>
                <a:schemeClr val="dk1"/>
              </a:solidFill>
              <a:latin typeface="Arial"/>
              <a:ea typeface="Arial"/>
              <a:cs typeface="Arial"/>
              <a:sym typeface="Arial"/>
            </a:endParaRPr>
          </a:p>
        </p:txBody>
      </p:sp>
      <p:sp>
        <p:nvSpPr>
          <p:cNvPr id="225" name="Google Shape;225;g2f93b66ce31_0_12"/>
          <p:cNvSpPr txBox="1"/>
          <p:nvPr/>
        </p:nvSpPr>
        <p:spPr>
          <a:xfrm>
            <a:off x="7116476" y="2097750"/>
            <a:ext cx="1501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体験学習バナー</a:t>
            </a:r>
            <a:endParaRPr b="1" i="0" sz="1400" u="sng" cap="none" strike="noStrike">
              <a:solidFill>
                <a:schemeClr val="dk1"/>
              </a:solidFill>
              <a:latin typeface="Arial"/>
              <a:ea typeface="Arial"/>
              <a:cs typeface="Arial"/>
              <a:sym typeface="Arial"/>
            </a:endParaRPr>
          </a:p>
        </p:txBody>
      </p:sp>
      <p:sp>
        <p:nvSpPr>
          <p:cNvPr id="226" name="Google Shape;226;g2f93b66ce31_0_12"/>
          <p:cNvSpPr txBox="1"/>
          <p:nvPr/>
        </p:nvSpPr>
        <p:spPr>
          <a:xfrm>
            <a:off x="8064665" y="4475149"/>
            <a:ext cx="1423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公立中高一貫</a:t>
            </a:r>
            <a:endParaRPr b="1" i="0" sz="1400" u="sng" cap="none" strike="noStrike">
              <a:solidFill>
                <a:schemeClr val="dk1"/>
              </a:solidFill>
              <a:latin typeface="Arial"/>
              <a:ea typeface="Arial"/>
              <a:cs typeface="Arial"/>
              <a:sym typeface="Arial"/>
            </a:endParaRPr>
          </a:p>
        </p:txBody>
      </p:sp>
      <p:sp>
        <p:nvSpPr>
          <p:cNvPr id="227" name="Google Shape;227;g2f93b66ce31_0_12"/>
          <p:cNvSpPr txBox="1"/>
          <p:nvPr/>
        </p:nvSpPr>
        <p:spPr>
          <a:xfrm>
            <a:off x="254102" y="4515130"/>
            <a:ext cx="439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流入先別結果</a:t>
            </a:r>
            <a:endParaRPr b="1" i="0" sz="1400" u="sng" cap="none" strike="noStrike">
              <a:solidFill>
                <a:schemeClr val="dk1"/>
              </a:solidFill>
              <a:latin typeface="Arial"/>
              <a:ea typeface="Arial"/>
              <a:cs typeface="Arial"/>
              <a:sym typeface="Arial"/>
            </a:endParaRPr>
          </a:p>
        </p:txBody>
      </p:sp>
      <p:pic>
        <p:nvPicPr>
          <p:cNvPr id="228" name="Google Shape;228;g2f93b66ce31_0_12"/>
          <p:cNvPicPr preferRelativeResize="0"/>
          <p:nvPr/>
        </p:nvPicPr>
        <p:blipFill rotWithShape="1">
          <a:blip r:embed="rId4">
            <a:alphaModFix/>
          </a:blip>
          <a:srcRect b="0" l="0" r="0" t="0"/>
          <a:stretch/>
        </p:blipFill>
        <p:spPr>
          <a:xfrm>
            <a:off x="7037175" y="2539900"/>
            <a:ext cx="1129763" cy="941463"/>
          </a:xfrm>
          <a:prstGeom prst="rect">
            <a:avLst/>
          </a:prstGeom>
          <a:noFill/>
          <a:ln>
            <a:noFill/>
          </a:ln>
        </p:spPr>
      </p:pic>
      <p:pic>
        <p:nvPicPr>
          <p:cNvPr id="229" name="Google Shape;229;g2f93b66ce31_0_12" title="ae147ba8f7b0096c1ba429ae8a2633e6.jpg"/>
          <p:cNvPicPr preferRelativeResize="0"/>
          <p:nvPr/>
        </p:nvPicPr>
        <p:blipFill rotWithShape="1">
          <a:blip r:embed="rId5">
            <a:alphaModFix/>
          </a:blip>
          <a:srcRect b="0" l="0" r="0" t="0"/>
          <a:stretch/>
        </p:blipFill>
        <p:spPr>
          <a:xfrm>
            <a:off x="7946363" y="4787588"/>
            <a:ext cx="1660425" cy="1383688"/>
          </a:xfrm>
          <a:prstGeom prst="rect">
            <a:avLst/>
          </a:prstGeom>
          <a:noFill/>
          <a:ln>
            <a:noFill/>
          </a:ln>
        </p:spPr>
      </p:pic>
      <p:sp>
        <p:nvSpPr>
          <p:cNvPr id="230" name="Google Shape;230;g2f93b66ce31_0_12"/>
          <p:cNvSpPr txBox="1"/>
          <p:nvPr/>
        </p:nvSpPr>
        <p:spPr>
          <a:xfrm>
            <a:off x="186624" y="3628682"/>
            <a:ext cx="7635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ja-JP" sz="900" u="none" cap="none" strike="noStrike">
                <a:solidFill>
                  <a:srgbClr val="000000"/>
                </a:solidFill>
                <a:highlight>
                  <a:srgbClr val="F7F7F7"/>
                </a:highlight>
                <a:latin typeface="Meiryo"/>
                <a:ea typeface="Meiryo"/>
                <a:cs typeface="Meiryo"/>
                <a:sym typeface="Meiryo"/>
              </a:rPr>
              <a:t>DG広告</a:t>
            </a:r>
            <a:endParaRPr b="1" i="0" sz="900" u="none" cap="none" strike="noStrike">
              <a:solidFill>
                <a:srgbClr val="000000"/>
              </a:solidFill>
              <a:highlight>
                <a:srgbClr val="F7F7F7"/>
              </a:highlight>
              <a:latin typeface="Meiryo"/>
              <a:ea typeface="Meiryo"/>
              <a:cs typeface="Meiryo"/>
              <a:sym typeface="Meiryo"/>
            </a:endParaRPr>
          </a:p>
        </p:txBody>
      </p:sp>
      <p:pic>
        <p:nvPicPr>
          <p:cNvPr id="231" name="Google Shape;231;g2f93b66ce31_0_12"/>
          <p:cNvPicPr preferRelativeResize="0"/>
          <p:nvPr/>
        </p:nvPicPr>
        <p:blipFill rotWithShape="1">
          <a:blip r:embed="rId6">
            <a:alphaModFix/>
          </a:blip>
          <a:srcRect b="0" l="0" r="0" t="0"/>
          <a:stretch/>
        </p:blipFill>
        <p:spPr>
          <a:xfrm>
            <a:off x="8242850" y="2539900"/>
            <a:ext cx="1129750" cy="94145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e331d7859d_0_0"/>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8" name="Google Shape;238;g2e331d7859d_0_0"/>
          <p:cNvSpPr txBox="1"/>
          <p:nvPr>
            <p:ph idx="12" type="sldNum"/>
          </p:nvPr>
        </p:nvSpPr>
        <p:spPr>
          <a:xfrm>
            <a:off x="9488464" y="6698636"/>
            <a:ext cx="433200" cy="201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39" name="Google Shape;239;g2e331d7859d_0_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0" name="Google Shape;240;g2e331d7859d_0_0"/>
          <p:cNvSpPr txBox="1"/>
          <p:nvPr/>
        </p:nvSpPr>
        <p:spPr>
          <a:xfrm>
            <a:off x="0" y="939020"/>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sz="1700" b="0">
                <a:latin typeface="Arial"/>
              </a:rPr>
              <a:t>P-MAXからのCV獲得は21件、CPAは8,053円でした。全体のCV数（84件）のうち約25%をP-MAXが占めており、指名検索に次ぐ獲得源となっています。前月（45件・CPA4,298円）からは夏期講習ピークの反動で件数が落ち着きましたが、CTRは1.14%と一定水準を保っています。配信を調整しながら獲得回復を図っていきます。</a:t>
            </a:r>
            <a:endParaRPr b="0" i="0" sz="1700" u="none" cap="none" strike="noStrike">
              <a:solidFill>
                <a:schemeClr val="dk1"/>
              </a:solidFill>
              <a:latin typeface="Arial"/>
              <a:ea typeface="Arial"/>
              <a:cs typeface="Arial"/>
              <a:sym typeface="Arial"/>
            </a:endParaRPr>
          </a:p>
        </p:txBody>
      </p:sp>
      <p:grpSp>
        <p:nvGrpSpPr>
          <p:cNvPr id="241" name="Google Shape;241;g2e331d7859d_0_0"/>
          <p:cNvGrpSpPr/>
          <p:nvPr/>
        </p:nvGrpSpPr>
        <p:grpSpPr>
          <a:xfrm>
            <a:off x="197301" y="169894"/>
            <a:ext cx="576000" cy="576000"/>
            <a:chOff x="295350" y="259019"/>
            <a:chExt cx="614400" cy="614400"/>
          </a:xfrm>
        </p:grpSpPr>
        <p:sp>
          <p:nvSpPr>
            <p:cNvPr id="242" name="Google Shape;242;g2e331d7859d_0_0"/>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43" name="Google Shape;243;g2e331d7859d_0_0"/>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44" name="Google Shape;244;g2e331d7859d_0_0"/>
          <p:cNvSpPr txBox="1"/>
          <p:nvPr/>
        </p:nvSpPr>
        <p:spPr>
          <a:xfrm>
            <a:off x="776535" y="173655"/>
            <a:ext cx="89322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P-MAX 配信結果　</a:t>
            </a:r>
            <a:endParaRPr b="0" i="0" sz="1400" u="none" cap="none" strike="noStrike">
              <a:solidFill>
                <a:srgbClr val="000000"/>
              </a:solidFill>
              <a:latin typeface="Arial"/>
              <a:ea typeface="Arial"/>
              <a:cs typeface="Arial"/>
              <a:sym typeface="Arial"/>
            </a:endParaRPr>
          </a:p>
        </p:txBody>
      </p:sp>
      <p:pic>
        <p:nvPicPr>
          <p:cNvPr id="245" name="Google Shape;245;g2e331d7859d_0_0"/>
          <p:cNvPicPr preferRelativeResize="0"/>
          <p:nvPr/>
        </p:nvPicPr>
        <p:blipFill rotWithShape="1">
          <a:blip r:embed="rId4">
            <a:alphaModFix/>
          </a:blip>
          <a:srcRect b="0" l="0" r="0" t="0"/>
          <a:stretch/>
        </p:blipFill>
        <p:spPr>
          <a:xfrm>
            <a:off x="457452" y="3066102"/>
            <a:ext cx="1884100" cy="3048126"/>
          </a:xfrm>
          <a:prstGeom prst="rect">
            <a:avLst/>
          </a:prstGeom>
          <a:noFill/>
          <a:ln>
            <a:noFill/>
          </a:ln>
        </p:spPr>
      </p:pic>
      <p:pic>
        <p:nvPicPr>
          <p:cNvPr id="246" name="Google Shape;246;g2e331d7859d_0_0"/>
          <p:cNvPicPr preferRelativeResize="0"/>
          <p:nvPr/>
        </p:nvPicPr>
        <p:blipFill rotWithShape="1">
          <a:blip r:embed="rId5">
            <a:alphaModFix/>
          </a:blip>
          <a:srcRect b="0" l="0" r="0" t="0"/>
          <a:stretch/>
        </p:blipFill>
        <p:spPr>
          <a:xfrm>
            <a:off x="4953000" y="3099725"/>
            <a:ext cx="1884100" cy="2980874"/>
          </a:xfrm>
          <a:prstGeom prst="rect">
            <a:avLst/>
          </a:prstGeom>
          <a:noFill/>
          <a:ln>
            <a:noFill/>
          </a:ln>
        </p:spPr>
      </p:pic>
      <p:sp>
        <p:nvSpPr>
          <p:cNvPr id="247" name="Google Shape;247;g2e331d7859d_0_0"/>
          <p:cNvSpPr txBox="1"/>
          <p:nvPr/>
        </p:nvSpPr>
        <p:spPr>
          <a:xfrm>
            <a:off x="388950" y="2712175"/>
            <a:ext cx="202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ja-JP" sz="1400" u="sng" cap="none" strike="noStrike">
                <a:solidFill>
                  <a:schemeClr val="dk1"/>
                </a:solidFill>
                <a:latin typeface="Calibri"/>
                <a:ea typeface="Calibri"/>
                <a:cs typeface="Calibri"/>
                <a:sym typeface="Calibri"/>
              </a:rPr>
              <a:t>広告フォーマットの例</a:t>
            </a:r>
            <a:endParaRPr b="1" i="0" sz="1400" u="sng" cap="none" strike="noStrike">
              <a:solidFill>
                <a:schemeClr val="dk1"/>
              </a:solidFill>
              <a:latin typeface="Calibri"/>
              <a:ea typeface="Calibri"/>
              <a:cs typeface="Calibri"/>
              <a:sym typeface="Calibri"/>
            </a:endParaRPr>
          </a:p>
        </p:txBody>
      </p:sp>
      <p:pic>
        <p:nvPicPr>
          <p:cNvPr id="248" name="Google Shape;248;g2e331d7859d_0_0"/>
          <p:cNvPicPr preferRelativeResize="0"/>
          <p:nvPr/>
        </p:nvPicPr>
        <p:blipFill rotWithShape="1">
          <a:blip r:embed="rId6">
            <a:alphaModFix/>
          </a:blip>
          <a:srcRect b="0" l="0" r="0" t="0"/>
          <a:stretch/>
        </p:blipFill>
        <p:spPr>
          <a:xfrm>
            <a:off x="2652421" y="3066100"/>
            <a:ext cx="1989704" cy="3239876"/>
          </a:xfrm>
          <a:prstGeom prst="rect">
            <a:avLst/>
          </a:prstGeom>
          <a:noFill/>
          <a:ln>
            <a:noFill/>
          </a:ln>
        </p:spPr>
      </p:pic>
      <p:pic>
        <p:nvPicPr>
          <p:cNvPr id="249" name="Google Shape;249;g2e331d7859d_0_0"/>
          <p:cNvPicPr preferRelativeResize="0"/>
          <p:nvPr/>
        </p:nvPicPr>
        <p:blipFill rotWithShape="1">
          <a:blip r:embed="rId7">
            <a:alphaModFix/>
          </a:blip>
          <a:srcRect b="0" l="0" r="0" t="0"/>
          <a:stretch/>
        </p:blipFill>
        <p:spPr>
          <a:xfrm>
            <a:off x="7107951" y="3085625"/>
            <a:ext cx="1884100" cy="2943891"/>
          </a:xfrm>
          <a:prstGeom prst="rect">
            <a:avLst/>
          </a:prstGeom>
          <a:noFill/>
          <a:ln>
            <a:noFill/>
          </a:ln>
        </p:spPr>
      </p:pic>
      <p:grpSp>
        <p:nvGrpSpPr>
          <p:cNvPr id="250" name="Google Shape;250;g2e331d7859d_0_0"/>
          <p:cNvGrpSpPr/>
          <p:nvPr/>
        </p:nvGrpSpPr>
        <p:grpSpPr>
          <a:xfrm>
            <a:off x="354025" y="2055061"/>
            <a:ext cx="9197950" cy="423975"/>
            <a:chOff x="342375" y="1997100"/>
            <a:chExt cx="9197950" cy="423975"/>
          </a:xfrm>
        </p:grpSpPr>
        <p:pic>
          <p:nvPicPr>
            <p:cNvPr id="251" name="Google Shape;251;g2e331d7859d_0_0"/>
            <p:cNvPicPr preferRelativeResize="0"/>
            <p:nvPr/>
          </p:nvPicPr>
          <p:blipFill rotWithShape="1">
            <a:blip r:embed="rId8">
              <a:alphaModFix/>
            </a:blip>
            <a:srcRect b="0" l="0" r="0" t="0"/>
            <a:stretch/>
          </p:blipFill>
          <p:spPr>
            <a:xfrm>
              <a:off x="342375" y="1997100"/>
              <a:ext cx="9197950" cy="423975"/>
            </a:xfrm>
            <a:prstGeom prst="rect">
              <a:avLst/>
            </a:prstGeom>
            <a:noFill/>
            <a:ln>
              <a:noFill/>
            </a:ln>
          </p:spPr>
        </p:pic>
        <p:sp>
          <p:nvSpPr>
            <p:cNvPr id="252" name="Google Shape;252;g2e331d7859d_0_0"/>
            <p:cNvSpPr/>
            <p:nvPr/>
          </p:nvSpPr>
          <p:spPr>
            <a:xfrm>
              <a:off x="6468125" y="2025150"/>
              <a:ext cx="3029400" cy="364800"/>
            </a:xfrm>
            <a:prstGeom prst="rect">
              <a:avLst/>
            </a:prstGeom>
            <a:solidFill>
              <a:srgbClr val="000000">
                <a:alpha val="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9"/>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9" name="Google Shape;259;p9"/>
          <p:cNvSpPr txBox="1"/>
          <p:nvPr>
            <p:ph idx="12" type="sldNum"/>
          </p:nvPr>
        </p:nvSpPr>
        <p:spPr>
          <a:xfrm>
            <a:off x="9488464" y="6698636"/>
            <a:ext cx="433088" cy="20148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60" name="Google Shape;260;p9"/>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p9"/>
          <p:cNvSpPr txBox="1"/>
          <p:nvPr/>
        </p:nvSpPr>
        <p:spPr>
          <a:xfrm>
            <a:off x="19050" y="908720"/>
            <a:ext cx="9906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sz="1700" b="0">
                <a:latin typeface="Arial"/>
              </a:rPr>
              <a:t>CPCは引き続き4円台の低単価で推移しており、CVは今月も発生していません。低単価での教室ページ認知獲得を目的に、Yahoo!経由で幅広くクリックを獲得しています。教室ごとの配信量に偏りが出ないよう、引き続き予算調整を行っています。</a:t>
            </a:r>
            <a:endParaRPr b="0" i="0" sz="1700" u="none" cap="none" strike="noStrike">
              <a:solidFill>
                <a:schemeClr val="dk1"/>
              </a:solidFill>
              <a:latin typeface="Arial"/>
              <a:ea typeface="Arial"/>
              <a:cs typeface="Arial"/>
              <a:sym typeface="Arial"/>
            </a:endParaRPr>
          </a:p>
        </p:txBody>
      </p:sp>
      <p:grpSp>
        <p:nvGrpSpPr>
          <p:cNvPr id="262" name="Google Shape;262;p9"/>
          <p:cNvGrpSpPr/>
          <p:nvPr/>
        </p:nvGrpSpPr>
        <p:grpSpPr>
          <a:xfrm>
            <a:off x="197301" y="169894"/>
            <a:ext cx="576001" cy="576000"/>
            <a:chOff x="295350" y="259019"/>
            <a:chExt cx="614400" cy="614399"/>
          </a:xfrm>
        </p:grpSpPr>
        <p:sp>
          <p:nvSpPr>
            <p:cNvPr id="263" name="Google Shape;263;p9"/>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64" name="Google Shape;264;p9"/>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265" name="Google Shape;265;p9"/>
          <p:cNvSpPr txBox="1"/>
          <p:nvPr/>
        </p:nvSpPr>
        <p:spPr>
          <a:xfrm>
            <a:off x="776535" y="173655"/>
            <a:ext cx="8932164"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教室ページ流入特別施策結果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7fba19d031_0_30"/>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27fba19d031_0_30"/>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272" name="Google Shape;272;g27fba19d031_0_30"/>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Meta配信結果</a:t>
            </a:r>
            <a:endParaRPr b="1" i="0" sz="2400" u="none" cap="none" strike="noStrike">
              <a:solidFill>
                <a:srgbClr val="002060"/>
              </a:solidFill>
              <a:latin typeface="Arial"/>
              <a:ea typeface="Arial"/>
              <a:cs typeface="Arial"/>
              <a:sym typeface="Arial"/>
            </a:endParaRPr>
          </a:p>
        </p:txBody>
      </p:sp>
      <p:grpSp>
        <p:nvGrpSpPr>
          <p:cNvPr id="273" name="Google Shape;273;g27fba19d031_0_30"/>
          <p:cNvGrpSpPr/>
          <p:nvPr/>
        </p:nvGrpSpPr>
        <p:grpSpPr>
          <a:xfrm>
            <a:off x="197301" y="169894"/>
            <a:ext cx="576000" cy="576000"/>
            <a:chOff x="295350" y="259019"/>
            <a:chExt cx="614400" cy="614400"/>
          </a:xfrm>
        </p:grpSpPr>
        <p:sp>
          <p:nvSpPr>
            <p:cNvPr id="274" name="Google Shape;274;g27fba19d031_0_30"/>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75" name="Google Shape;275;g27fba19d031_0_30"/>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76" name="Google Shape;276;g27fba19d031_0_3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g27fba19d031_0_3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g27fba19d031_0_30"/>
          <p:cNvSpPr txBox="1"/>
          <p:nvPr/>
        </p:nvSpPr>
        <p:spPr>
          <a:xfrm>
            <a:off x="237325" y="2341499"/>
            <a:ext cx="1910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ja-JP" sz="1700" u="sng" cap="none" strike="noStrike">
                <a:solidFill>
                  <a:schemeClr val="dk1"/>
                </a:solidFill>
                <a:latin typeface="Calibri"/>
                <a:ea typeface="Calibri"/>
                <a:cs typeface="Calibri"/>
                <a:sym typeface="Calibri"/>
              </a:rPr>
              <a:t>英検</a:t>
            </a:r>
            <a:endParaRPr b="1" i="0" sz="1700" u="sng" cap="none" strike="noStrike">
              <a:solidFill>
                <a:schemeClr val="dk1"/>
              </a:solidFill>
              <a:latin typeface="Calibri"/>
              <a:ea typeface="Calibri"/>
              <a:cs typeface="Calibri"/>
              <a:sym typeface="Calibri"/>
            </a:endParaRPr>
          </a:p>
        </p:txBody>
      </p:sp>
      <p:sp>
        <p:nvSpPr>
          <p:cNvPr id="279" name="Google Shape;279;g27fba19d031_0_30"/>
          <p:cNvSpPr txBox="1"/>
          <p:nvPr/>
        </p:nvSpPr>
        <p:spPr>
          <a:xfrm>
            <a:off x="128475" y="890725"/>
            <a:ext cx="9777600" cy="140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sz="1700" b="0">
                <a:solidFill>
                  <a:srgbClr val="000000"/>
                </a:solidFill>
                <a:latin typeface="Arial"/>
              </a:rPr>
              <a:t>Meta（Instagram）は英検・夏期講習系バナーを中心に配信し、表示回数35,206回・クリック187回で配信しました。CV数はデータソース側にクリエイティブ単位の記録がないため、本レポートでは確認できません（媒体管理画面で別途ご確認ください）。引き続き反応の良いクリエイティブを見極めながら配信を最適化していきます。</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4826ca313d_2_16"/>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g34826ca313d_2_16"/>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286" name="Google Shape;286;g34826ca313d_2_16"/>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Microsoft配信結果</a:t>
            </a:r>
            <a:endParaRPr b="1" i="0" sz="2400" u="none" cap="none" strike="noStrike">
              <a:solidFill>
                <a:srgbClr val="002060"/>
              </a:solidFill>
              <a:latin typeface="Arial"/>
              <a:ea typeface="Arial"/>
              <a:cs typeface="Arial"/>
              <a:sym typeface="Arial"/>
            </a:endParaRPr>
          </a:p>
        </p:txBody>
      </p:sp>
      <p:grpSp>
        <p:nvGrpSpPr>
          <p:cNvPr id="287" name="Google Shape;287;g34826ca313d_2_16"/>
          <p:cNvGrpSpPr/>
          <p:nvPr/>
        </p:nvGrpSpPr>
        <p:grpSpPr>
          <a:xfrm>
            <a:off x="197301" y="169894"/>
            <a:ext cx="576000" cy="576000"/>
            <a:chOff x="295350" y="259019"/>
            <a:chExt cx="614400" cy="614400"/>
          </a:xfrm>
        </p:grpSpPr>
        <p:sp>
          <p:nvSpPr>
            <p:cNvPr id="288" name="Google Shape;288;g34826ca313d_2_16"/>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89" name="Google Shape;289;g34826ca313d_2_16"/>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90" name="Google Shape;290;g34826ca313d_2_1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g34826ca313d_2_1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g34826ca313d_2_16"/>
          <p:cNvSpPr txBox="1"/>
          <p:nvPr/>
        </p:nvSpPr>
        <p:spPr>
          <a:xfrm>
            <a:off x="128475" y="890725"/>
            <a:ext cx="97776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sz="1700" b="0">
                <a:solidFill>
                  <a:srgbClr val="000000"/>
                </a:solidFill>
                <a:latin typeface="Meiryo"/>
              </a:rPr>
              <a:t>Microsoft広告は少額での運用となっております。指名検索のみでの配信とし、CPC58円と低単価を維持しております。CVは8件獲得できており、少額運用でも効果が出ています。今後も継続してまいります。</a:t>
            </a:r>
            <a:endParaRPr b="0" i="0" sz="1700" u="none" cap="none" strike="noStrike">
              <a:solidFill>
                <a:srgbClr val="000000"/>
              </a:solidFill>
              <a:latin typeface="Meiryo"/>
              <a:ea typeface="Meiryo"/>
              <a:cs typeface="Meiryo"/>
              <a:sym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24"/>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299" name="Google Shape;299;p24"/>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今後の予算方針のご確認（昨年比データ）</a:t>
            </a:r>
            <a:endParaRPr b="1" i="0" sz="2400" u="none" cap="none" strike="noStrike">
              <a:solidFill>
                <a:srgbClr val="002060"/>
              </a:solidFill>
              <a:latin typeface="Arial"/>
              <a:ea typeface="Arial"/>
              <a:cs typeface="Arial"/>
              <a:sym typeface="Arial"/>
            </a:endParaRPr>
          </a:p>
        </p:txBody>
      </p:sp>
      <p:grpSp>
        <p:nvGrpSpPr>
          <p:cNvPr id="300" name="Google Shape;300;p24"/>
          <p:cNvGrpSpPr/>
          <p:nvPr/>
        </p:nvGrpSpPr>
        <p:grpSpPr>
          <a:xfrm>
            <a:off x="197301" y="169894"/>
            <a:ext cx="576000" cy="576000"/>
            <a:chOff x="295350" y="259019"/>
            <a:chExt cx="614400" cy="614400"/>
          </a:xfrm>
        </p:grpSpPr>
        <p:sp>
          <p:nvSpPr>
            <p:cNvPr id="301" name="Google Shape;301;p24"/>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302" name="Google Shape;302;p24"/>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303" name="Google Shape;303;p2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2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5" name="Google Shape;305;p24"/>
          <p:cNvSpPr txBox="1"/>
          <p:nvPr/>
        </p:nvSpPr>
        <p:spPr>
          <a:xfrm>
            <a:off x="2797675" y="25699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800" u="none" cap="none" strike="noStrike">
                <a:solidFill>
                  <a:schemeClr val="dk1"/>
                </a:solidFill>
                <a:latin typeface="Meiryo"/>
                <a:ea typeface="Meiryo"/>
                <a:cs typeface="Meiryo"/>
                <a:sym typeface="Meiryo"/>
              </a:rPr>
              <a:t>6月</a:t>
            </a:r>
            <a:endParaRPr b="0" i="0" sz="1800" u="none" cap="none" strike="noStrike">
              <a:solidFill>
                <a:schemeClr val="dk1"/>
              </a:solidFill>
              <a:latin typeface="Meiryo"/>
              <a:ea typeface="Meiryo"/>
              <a:cs typeface="Meiryo"/>
              <a:sym typeface="Meiryo"/>
            </a:endParaRPr>
          </a:p>
        </p:txBody>
      </p:sp>
      <p:sp>
        <p:nvSpPr>
          <p:cNvPr id="306" name="Google Shape;306;p24"/>
          <p:cNvSpPr txBox="1"/>
          <p:nvPr/>
        </p:nvSpPr>
        <p:spPr>
          <a:xfrm>
            <a:off x="776535" y="1770771"/>
            <a:ext cx="6480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Meiryo"/>
                <a:ea typeface="Meiryo"/>
                <a:cs typeface="Meiryo"/>
                <a:sym typeface="Meiryo"/>
              </a:rPr>
              <a:t>CV：資料請求＋体験授業+qubo</a:t>
            </a:r>
            <a:endParaRPr b="0" i="0" sz="1600" u="none" cap="none" strike="noStrike">
              <a:solidFill>
                <a:schemeClr val="dk1"/>
              </a:solidFill>
              <a:latin typeface="Meiryo"/>
              <a:ea typeface="Meiryo"/>
              <a:cs typeface="Meiryo"/>
              <a:sym typeface="Meiryo"/>
            </a:endParaRPr>
          </a:p>
        </p:txBody>
      </p:sp>
      <p:sp>
        <p:nvSpPr>
          <p:cNvPr id="307" name="Google Shape;307;p24"/>
          <p:cNvSpPr txBox="1"/>
          <p:nvPr/>
        </p:nvSpPr>
        <p:spPr>
          <a:xfrm>
            <a:off x="116440" y="956361"/>
            <a:ext cx="9748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sz="1700" b="0">
                <a:latin typeface="Meiryo"/>
              </a:rPr>
              <a:t>7月は6月の夏期講習募集ピークから一服し、全体CVは84件となりましたが、昨年同月（82件）とほぼ同水準を維持しました。CPAも昨年よりやや改善しています。8月も夏期講習・2学期に向けた需要が見込まれるため、好調なP-MAX・指名検索を軸に均等に配信していきます。</a:t>
            </a:r>
            <a:endParaRPr b="0" i="0" sz="1700" u="none" cap="none" strike="noStrike">
              <a:solidFill>
                <a:schemeClr val="dk1"/>
              </a:solidFill>
              <a:latin typeface="Meiryo"/>
              <a:ea typeface="Meiryo"/>
              <a:cs typeface="Meiryo"/>
              <a:sym typeface="Meiryo"/>
            </a:endParaRPr>
          </a:p>
        </p:txBody>
      </p:sp>
      <p:sp>
        <p:nvSpPr>
          <p:cNvPr id="308" name="Google Shape;308;p24"/>
          <p:cNvSpPr txBox="1"/>
          <p:nvPr/>
        </p:nvSpPr>
        <p:spPr>
          <a:xfrm>
            <a:off x="4837138" y="25699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800" u="none" cap="none" strike="noStrike">
                <a:solidFill>
                  <a:schemeClr val="dk1"/>
                </a:solidFill>
                <a:latin typeface="Meiryo"/>
                <a:ea typeface="Meiryo"/>
                <a:cs typeface="Meiryo"/>
                <a:sym typeface="Meiryo"/>
              </a:rPr>
              <a:t>7月</a:t>
            </a:r>
            <a:endParaRPr b="0" i="0" sz="1800" u="none" cap="none" strike="noStrike">
              <a:solidFill>
                <a:schemeClr val="dk1"/>
              </a:solidFill>
              <a:latin typeface="Meiryo"/>
              <a:ea typeface="Meiryo"/>
              <a:cs typeface="Meiryo"/>
              <a:sym typeface="Meiryo"/>
            </a:endParaRPr>
          </a:p>
        </p:txBody>
      </p:sp>
      <p:pic>
        <p:nvPicPr>
          <p:cNvPr id="309" name="Google Shape;309;p24"/>
          <p:cNvPicPr preferRelativeResize="0"/>
          <p:nvPr/>
        </p:nvPicPr>
        <p:blipFill rotWithShape="1">
          <a:blip r:embed="rId4">
            <a:alphaModFix/>
          </a:blip>
          <a:srcRect b="0" l="0" r="0" t="0"/>
          <a:stretch/>
        </p:blipFill>
        <p:spPr>
          <a:xfrm>
            <a:off x="8917172" y="2989536"/>
            <a:ext cx="792628" cy="784013"/>
          </a:xfrm>
          <a:prstGeom prst="rect">
            <a:avLst/>
          </a:prstGeom>
          <a:noFill/>
          <a:ln>
            <a:noFill/>
          </a:ln>
        </p:spPr>
      </p:pic>
      <p:sp>
        <p:nvSpPr>
          <p:cNvPr id="310" name="Google Shape;310;p24"/>
          <p:cNvSpPr txBox="1"/>
          <p:nvPr/>
        </p:nvSpPr>
        <p:spPr>
          <a:xfrm>
            <a:off x="6876625" y="25699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800" u="none" cap="none" strike="noStrike">
                <a:solidFill>
                  <a:schemeClr val="dk1"/>
                </a:solidFill>
                <a:latin typeface="Meiryo"/>
                <a:ea typeface="Meiryo"/>
                <a:cs typeface="Meiryo"/>
                <a:sym typeface="Meiryo"/>
              </a:rPr>
              <a:t>8月</a:t>
            </a:r>
            <a:endParaRPr b="0" i="0" sz="1800" u="none" cap="none" strike="noStrike">
              <a:solidFill>
                <a:schemeClr val="dk1"/>
              </a:solidFill>
              <a:latin typeface="Meiryo"/>
              <a:ea typeface="Meiryo"/>
              <a:cs typeface="Meiryo"/>
              <a:sym typeface="Meiry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TOSHIBA</dc:creator>
</cp:coreProperties>
</file>