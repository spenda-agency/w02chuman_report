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9906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120">
          <p15:clr>
            <a:srgbClr val="A4A3A4"/>
          </p15:clr>
        </p15:guide>
      </p15:sldGuideLst>
    </p:ext>
    <p:ext uri="GoogleSlidesCustomDataVersion2">
      <go:slidesCustomData xmlns:go="http://customooxmlschemas.google.com/" r:id="rId21" roundtripDataSignature="AMtx7mifIfdu3gnNo8pXgiNOUAs1q/bW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483CEB-45F6-44CC-9B92-57D7032789AA}">
  <a:tblStyle styleId="{DC483CEB-45F6-44CC-9B92-57D7032789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1731"/>
          </a:xfrm>
          <a:prstGeom prst="rect">
            <a:avLst/>
          </a:prstGeom>
          <a:noFill/>
          <a:ln>
            <a:noFill/>
          </a:ln>
        </p:spPr>
        <p:txBody>
          <a:bodyPr anchorCtr="0" anchor="t"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3992" y="0"/>
            <a:ext cx="3078427" cy="511731"/>
          </a:xfrm>
          <a:prstGeom prst="rect">
            <a:avLst/>
          </a:prstGeom>
          <a:noFill/>
          <a:ln>
            <a:noFill/>
          </a:ln>
        </p:spPr>
        <p:txBody>
          <a:bodyPr anchorCtr="0" anchor="t" bIns="49525" lIns="99075" spcFirstLastPara="1" rIns="99075" wrap="square" tIns="495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106"/>
            <a:ext cx="3078427" cy="511731"/>
          </a:xfrm>
          <a:prstGeom prst="rect">
            <a:avLst/>
          </a:prstGeom>
          <a:noFill/>
          <a:ln>
            <a:noFill/>
          </a:ln>
        </p:spPr>
        <p:txBody>
          <a:bodyPr anchorCtr="0" anchor="b"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ja-JP"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3: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20" name="Google Shape;120;p3: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36" name="Google Shape;136;p4: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51" name="Google Shape;151;p5: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6: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67" name="Google Shape;167;p6: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184" name="Google Shape;184;p7: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8: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01" name="Google Shape;201;p8: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f93b66ce31_0_12: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2f93b66ce31_0_12: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17" name="Google Shape;217;g2f93b66ce31_0_12:notes"/>
          <p:cNvSpPr txBox="1"/>
          <p:nvPr>
            <p:ph idx="12" type="sldNum"/>
          </p:nvPr>
        </p:nvSpPr>
        <p:spPr>
          <a:xfrm>
            <a:off x="4023992" y="9721106"/>
            <a:ext cx="3078300" cy="511800"/>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e331d7859d_0_0: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2e331d7859d_0_0: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39" name="Google Shape;239;g2e331d7859d_0_0:notes"/>
          <p:cNvSpPr txBox="1"/>
          <p:nvPr>
            <p:ph idx="12" type="sldNum"/>
          </p:nvPr>
        </p:nvSpPr>
        <p:spPr>
          <a:xfrm>
            <a:off x="4023992" y="9721106"/>
            <a:ext cx="3078300" cy="511800"/>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9:notes"/>
          <p:cNvSpPr txBox="1"/>
          <p:nvPr>
            <p:ph idx="1" type="body"/>
          </p:nvPr>
        </p:nvSpPr>
        <p:spPr>
          <a:xfrm>
            <a:off x="710407" y="4861441"/>
            <a:ext cx="5683250" cy="4605576"/>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58" name="Google Shape;258;p9:notes"/>
          <p:cNvSpPr txBox="1"/>
          <p:nvPr>
            <p:ph idx="12" type="sldNum"/>
          </p:nvPr>
        </p:nvSpPr>
        <p:spPr>
          <a:xfrm>
            <a:off x="4023992" y="9721106"/>
            <a:ext cx="3078427" cy="511731"/>
          </a:xfrm>
          <a:prstGeom prst="rect">
            <a:avLst/>
          </a:prstGeom>
          <a:noFill/>
          <a:ln>
            <a:noFill/>
          </a:ln>
        </p:spPr>
        <p:txBody>
          <a:bodyPr anchorCtr="0" anchor="b" bIns="49525" lIns="99075" spcFirstLastPara="1" rIns="99075" wrap="square" tIns="49525">
            <a:noAutofit/>
          </a:bodyPr>
          <a:lstStyle/>
          <a:p>
            <a:pPr indent="0" lvl="0" marL="0" rtl="0" algn="r">
              <a:lnSpc>
                <a:spcPct val="100000"/>
              </a:lnSpc>
              <a:spcBef>
                <a:spcPts val="0"/>
              </a:spcBef>
              <a:spcAft>
                <a:spcPts val="0"/>
              </a:spcAft>
              <a:buSzPts val="1400"/>
              <a:buNone/>
            </a:pPr>
            <a:fld id="{00000000-1234-1234-1234-123412341234}" type="slidenum">
              <a:rPr lang="ja-JP"/>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7fba19d031_0_30: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71" name="Google Shape;271;g27fba19d031_0_30:notes"/>
          <p:cNvSpPr/>
          <p:nvPr>
            <p:ph idx="2" type="sldImg"/>
          </p:nvPr>
        </p:nvSpPr>
        <p:spPr>
          <a:xfrm>
            <a:off x="781050" y="768350"/>
            <a:ext cx="5541963"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4826ca313d_2_16: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86" name="Google Shape;286;g34826ca313d_2_16:notes"/>
          <p:cNvSpPr/>
          <p:nvPr>
            <p:ph idx="2" type="sldImg"/>
          </p:nvPr>
        </p:nvSpPr>
        <p:spPr>
          <a:xfrm>
            <a:off x="781050" y="768350"/>
            <a:ext cx="55419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4:notes"/>
          <p:cNvSpPr txBox="1"/>
          <p:nvPr>
            <p:ph idx="1" type="body"/>
          </p:nvPr>
        </p:nvSpPr>
        <p:spPr>
          <a:xfrm>
            <a:off x="710407" y="4861441"/>
            <a:ext cx="5683200" cy="4605600"/>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300" name="Google Shape;300;p24:notes"/>
          <p:cNvSpPr/>
          <p:nvPr>
            <p:ph idx="2" type="sldImg"/>
          </p:nvPr>
        </p:nvSpPr>
        <p:spPr>
          <a:xfrm>
            <a:off x="781050" y="768350"/>
            <a:ext cx="5541900" cy="383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742950" y="2130426"/>
            <a:ext cx="84201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485900" y="3886200"/>
            <a:ext cx="69342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プレースホルダなし">
  <p:cSld name=" プレースホルダなし">
    <p:spTree>
      <p:nvGrpSpPr>
        <p:cNvPr id="21" name="Shape 21"/>
        <p:cNvGrpSpPr/>
        <p:nvPr/>
      </p:nvGrpSpPr>
      <p:grpSpPr>
        <a:xfrm>
          <a:off x="0" y="0"/>
          <a:ext cx="0" cy="0"/>
          <a:chOff x="0" y="0"/>
          <a:chExt cx="0" cy="0"/>
        </a:xfrm>
      </p:grpSpPr>
      <p:sp>
        <p:nvSpPr>
          <p:cNvPr id="22" name="Google Shape;22;p13"/>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24" name="Shape 24"/>
        <p:cNvGrpSpPr/>
        <p:nvPr/>
      </p:nvGrpSpPr>
      <p:grpSpPr>
        <a:xfrm>
          <a:off x="0" y="0"/>
          <a:ext cx="0" cy="0"/>
          <a:chOff x="0" y="0"/>
          <a:chExt cx="0" cy="0"/>
        </a:xfrm>
      </p:grpSpPr>
      <p:sp>
        <p:nvSpPr>
          <p:cNvPr id="25" name="Google Shape;25;p14"/>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 type="body"/>
          </p:nvPr>
        </p:nvSpPr>
        <p:spPr>
          <a:xfrm>
            <a:off x="495300" y="1600201"/>
            <a:ext cx="89154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 name="Google Shape;27;p14"/>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 type="secHead">
  <p:cSld name="SECTION_HEADER">
    <p:spTree>
      <p:nvGrpSpPr>
        <p:cNvPr id="30" name="Shape 30"/>
        <p:cNvGrpSpPr/>
        <p:nvPr/>
      </p:nvGrpSpPr>
      <p:grpSpPr>
        <a:xfrm>
          <a:off x="0" y="0"/>
          <a:ext cx="0" cy="0"/>
          <a:chOff x="0" y="0"/>
          <a:chExt cx="0" cy="0"/>
        </a:xfrm>
      </p:grpSpPr>
      <p:sp>
        <p:nvSpPr>
          <p:cNvPr id="31" name="Google Shape;31;p15"/>
          <p:cNvSpPr txBox="1"/>
          <p:nvPr>
            <p:ph type="title"/>
          </p:nvPr>
        </p:nvSpPr>
        <p:spPr>
          <a:xfrm>
            <a:off x="782506" y="4406901"/>
            <a:ext cx="84201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 type="body"/>
          </p:nvPr>
        </p:nvSpPr>
        <p:spPr>
          <a:xfrm>
            <a:off x="782506" y="2906713"/>
            <a:ext cx="84201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3" name="Google Shape;33;p15"/>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つのコンテンツ" type="twoObj">
  <p:cSld name="TWO_OBJECTS">
    <p:spTree>
      <p:nvGrpSpPr>
        <p:cNvPr id="36" name="Shape 36"/>
        <p:cNvGrpSpPr/>
        <p:nvPr/>
      </p:nvGrpSpPr>
      <p:grpSpPr>
        <a:xfrm>
          <a:off x="0" y="0"/>
          <a:ext cx="0" cy="0"/>
          <a:chOff x="0" y="0"/>
          <a:chExt cx="0" cy="0"/>
        </a:xfrm>
      </p:grpSpPr>
      <p:sp>
        <p:nvSpPr>
          <p:cNvPr id="37" name="Google Shape;37;p16"/>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495300" y="1600201"/>
            <a:ext cx="437515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 name="Google Shape;39;p16"/>
          <p:cNvSpPr txBox="1"/>
          <p:nvPr>
            <p:ph idx="2" type="body"/>
          </p:nvPr>
        </p:nvSpPr>
        <p:spPr>
          <a:xfrm>
            <a:off x="5035550" y="1600201"/>
            <a:ext cx="437515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6"/>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6"/>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3" name="Shape 43"/>
        <p:cNvGrpSpPr/>
        <p:nvPr/>
      </p:nvGrpSpPr>
      <p:grpSpPr>
        <a:xfrm>
          <a:off x="0" y="0"/>
          <a:ext cx="0" cy="0"/>
          <a:chOff x="0" y="0"/>
          <a:chExt cx="0" cy="0"/>
        </a:xfrm>
      </p:grpSpPr>
      <p:sp>
        <p:nvSpPr>
          <p:cNvPr id="44" name="Google Shape;44;p17"/>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 type="body"/>
          </p:nvPr>
        </p:nvSpPr>
        <p:spPr>
          <a:xfrm>
            <a:off x="495300" y="1535113"/>
            <a:ext cx="4376870"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17"/>
          <p:cNvSpPr txBox="1"/>
          <p:nvPr>
            <p:ph idx="2" type="body"/>
          </p:nvPr>
        </p:nvSpPr>
        <p:spPr>
          <a:xfrm>
            <a:off x="495300" y="2174875"/>
            <a:ext cx="4376870"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17"/>
          <p:cNvSpPr txBox="1"/>
          <p:nvPr>
            <p:ph idx="3" type="body"/>
          </p:nvPr>
        </p:nvSpPr>
        <p:spPr>
          <a:xfrm>
            <a:off x="5032111" y="1535113"/>
            <a:ext cx="4378590"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17"/>
          <p:cNvSpPr txBox="1"/>
          <p:nvPr>
            <p:ph idx="4" type="body"/>
          </p:nvPr>
        </p:nvSpPr>
        <p:spPr>
          <a:xfrm>
            <a:off x="5032111" y="2174875"/>
            <a:ext cx="4378590"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17"/>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7"/>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type="titleOnly">
  <p:cSld name="TITLE_ONLY">
    <p:spTree>
      <p:nvGrpSpPr>
        <p:cNvPr id="52" name="Shape 52"/>
        <p:cNvGrpSpPr/>
        <p:nvPr/>
      </p:nvGrpSpPr>
      <p:grpSpPr>
        <a:xfrm>
          <a:off x="0" y="0"/>
          <a:ext cx="0" cy="0"/>
          <a:chOff x="0" y="0"/>
          <a:chExt cx="0" cy="0"/>
        </a:xfrm>
      </p:grpSpPr>
      <p:sp>
        <p:nvSpPr>
          <p:cNvPr id="53" name="Google Shape;53;p18"/>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8"/>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type="blank">
  <p:cSld name="BLANK">
    <p:spTree>
      <p:nvGrpSpPr>
        <p:cNvPr id="57" name="Shape 57"/>
        <p:cNvGrpSpPr/>
        <p:nvPr/>
      </p:nvGrpSpPr>
      <p:grpSpPr>
        <a:xfrm>
          <a:off x="0" y="0"/>
          <a:ext cx="0" cy="0"/>
          <a:chOff x="0" y="0"/>
          <a:chExt cx="0" cy="0"/>
        </a:xfrm>
      </p:grpSpPr>
      <p:sp>
        <p:nvSpPr>
          <p:cNvPr id="58" name="Google Shape;58;p19"/>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コンテンツ" type="objTx">
  <p:cSld name="OBJECT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495300" y="273050"/>
            <a:ext cx="3259006"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 type="body"/>
          </p:nvPr>
        </p:nvSpPr>
        <p:spPr>
          <a:xfrm>
            <a:off x="3872971" y="273051"/>
            <a:ext cx="5537729"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4" name="Google Shape;64;p20"/>
          <p:cNvSpPr txBox="1"/>
          <p:nvPr>
            <p:ph idx="2" type="body"/>
          </p:nvPr>
        </p:nvSpPr>
        <p:spPr>
          <a:xfrm>
            <a:off x="495300" y="1435101"/>
            <a:ext cx="3259006"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図" type="picTx">
  <p:cSld name="PICTURE_WITH_CAPTION_TEXT">
    <p:spTree>
      <p:nvGrpSpPr>
        <p:cNvPr id="68" name="Shape 68"/>
        <p:cNvGrpSpPr/>
        <p:nvPr/>
      </p:nvGrpSpPr>
      <p:grpSpPr>
        <a:xfrm>
          <a:off x="0" y="0"/>
          <a:ext cx="0" cy="0"/>
          <a:chOff x="0" y="0"/>
          <a:chExt cx="0" cy="0"/>
        </a:xfrm>
      </p:grpSpPr>
      <p:sp>
        <p:nvSpPr>
          <p:cNvPr id="69" name="Google Shape;69;p21"/>
          <p:cNvSpPr txBox="1"/>
          <p:nvPr>
            <p:ph type="title"/>
          </p:nvPr>
        </p:nvSpPr>
        <p:spPr>
          <a:xfrm>
            <a:off x="1941645" y="4800600"/>
            <a:ext cx="59436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p:nvPr>
            <p:ph idx="2" type="pic"/>
          </p:nvPr>
        </p:nvSpPr>
        <p:spPr>
          <a:xfrm>
            <a:off x="1941645" y="612775"/>
            <a:ext cx="5943600" cy="4114800"/>
          </a:xfrm>
          <a:prstGeom prst="rect">
            <a:avLst/>
          </a:prstGeom>
          <a:noFill/>
          <a:ln>
            <a:noFill/>
          </a:ln>
        </p:spPr>
      </p:sp>
      <p:sp>
        <p:nvSpPr>
          <p:cNvPr id="71" name="Google Shape;71;p21"/>
          <p:cNvSpPr txBox="1"/>
          <p:nvPr>
            <p:ph idx="1" type="body"/>
          </p:nvPr>
        </p:nvSpPr>
        <p:spPr>
          <a:xfrm>
            <a:off x="1941645" y="5367338"/>
            <a:ext cx="59436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2" name="Google Shape;72;p21"/>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縦書きテキスト" type="vertTx">
  <p:cSld name="VERTICAL_TEXT">
    <p:spTree>
      <p:nvGrpSpPr>
        <p:cNvPr id="75" name="Shape 75"/>
        <p:cNvGrpSpPr/>
        <p:nvPr/>
      </p:nvGrpSpPr>
      <p:grpSpPr>
        <a:xfrm>
          <a:off x="0" y="0"/>
          <a:ext cx="0" cy="0"/>
          <a:chOff x="0" y="0"/>
          <a:chExt cx="0" cy="0"/>
        </a:xfrm>
      </p:grpSpPr>
      <p:sp>
        <p:nvSpPr>
          <p:cNvPr id="76" name="Google Shape;76;p22"/>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 type="body"/>
          </p:nvPr>
        </p:nvSpPr>
        <p:spPr>
          <a:xfrm rot="5400000">
            <a:off x="2690018" y="-594518"/>
            <a:ext cx="4525963" cy="8915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 name="Google Shape;78;p22"/>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縦書きタイトルと縦書きテキスト" type="vertTitleAndTx">
  <p:cSld name="VERTICAL_TITLE_AND_VERTICAL_TEXT">
    <p:spTree>
      <p:nvGrpSpPr>
        <p:cNvPr id="81" name="Shape 81"/>
        <p:cNvGrpSpPr/>
        <p:nvPr/>
      </p:nvGrpSpPr>
      <p:grpSpPr>
        <a:xfrm>
          <a:off x="0" y="0"/>
          <a:ext cx="0" cy="0"/>
          <a:chOff x="0" y="0"/>
          <a:chExt cx="0" cy="0"/>
        </a:xfrm>
      </p:grpSpPr>
      <p:sp>
        <p:nvSpPr>
          <p:cNvPr id="82" name="Google Shape;82;p23"/>
          <p:cNvSpPr txBox="1"/>
          <p:nvPr>
            <p:ph type="title"/>
          </p:nvPr>
        </p:nvSpPr>
        <p:spPr>
          <a:xfrm rot="5400000">
            <a:off x="5370512" y="2085976"/>
            <a:ext cx="5851525" cy="22288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 type="body"/>
          </p:nvPr>
        </p:nvSpPr>
        <p:spPr>
          <a:xfrm rot="5400000">
            <a:off x="830262" y="-60323"/>
            <a:ext cx="5851525" cy="652145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4" name="Google Shape;84;p23"/>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3"/>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3"/>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495300" y="1600201"/>
            <a:ext cx="89154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495300" y="6356351"/>
            <a:ext cx="2311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3384550" y="6356351"/>
            <a:ext cx="31369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7099300" y="6356351"/>
            <a:ext cx="2311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1.jpg"/><Relationship Id="rId6" Type="http://schemas.openxmlformats.org/officeDocument/2006/relationships/image" Target="../media/image14.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24.png"/><Relationship Id="rId8"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nvSpPr>
        <p:spPr>
          <a:xfrm>
            <a:off x="506506" y="620688"/>
            <a:ext cx="9023610" cy="50452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ja-JP" sz="3600" u="none" cap="none" strike="noStrike">
                <a:solidFill>
                  <a:srgbClr val="002060"/>
                </a:solidFill>
                <a:latin typeface="Arial"/>
                <a:ea typeface="Arial"/>
                <a:cs typeface="Arial"/>
                <a:sym typeface="Arial"/>
              </a:rPr>
              <a:t>中萬学院　広報室　御中</a:t>
            </a:r>
            <a:endParaRPr b="0" i="0" sz="3600" u="none" cap="none" strike="noStrike">
              <a:solidFill>
                <a:srgbClr val="002060"/>
              </a:solidFill>
              <a:latin typeface="Arial"/>
              <a:ea typeface="Arial"/>
              <a:cs typeface="Arial"/>
              <a:sym typeface="Arial"/>
            </a:endParaRPr>
          </a:p>
        </p:txBody>
      </p:sp>
      <p:sp>
        <p:nvSpPr>
          <p:cNvPr id="93" name="Google Shape;93;p1"/>
          <p:cNvSpPr txBox="1"/>
          <p:nvPr/>
        </p:nvSpPr>
        <p:spPr>
          <a:xfrm>
            <a:off x="271241" y="1584783"/>
            <a:ext cx="9023610" cy="50452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ja-JP" sz="3600" u="none" cap="none" strike="noStrike">
                <a:solidFill>
                  <a:srgbClr val="002060"/>
                </a:solidFill>
                <a:latin typeface="Arial"/>
                <a:ea typeface="Arial"/>
                <a:cs typeface="Arial"/>
                <a:sym typeface="Arial"/>
              </a:rPr>
              <a:t>	</a:t>
            </a:r>
            <a:r>
              <a:rPr lang="ja-JP" sz="3600">
                <a:solidFill>
                  <a:srgbClr val="002060"/>
                </a:solidFill>
              </a:rPr>
              <a:t>5</a:t>
            </a:r>
            <a:r>
              <a:rPr b="0" i="0" lang="ja-JP" sz="3600" u="none" cap="none" strike="noStrike">
                <a:solidFill>
                  <a:srgbClr val="002060"/>
                </a:solidFill>
                <a:latin typeface="Arial"/>
                <a:ea typeface="Arial"/>
                <a:cs typeface="Arial"/>
                <a:sym typeface="Arial"/>
              </a:rPr>
              <a:t>月分有料広告報告書</a:t>
            </a:r>
            <a:endParaRPr b="0" i="0" sz="3600" u="none" cap="none" strike="noStrike">
              <a:solidFill>
                <a:srgbClr val="002060"/>
              </a:solidFill>
              <a:latin typeface="Arial"/>
              <a:ea typeface="Arial"/>
              <a:cs typeface="Arial"/>
              <a:sym typeface="Arial"/>
            </a:endParaRPr>
          </a:p>
        </p:txBody>
      </p:sp>
      <p:sp>
        <p:nvSpPr>
          <p:cNvPr id="94" name="Google Shape;94;p1"/>
          <p:cNvSpPr txBox="1"/>
          <p:nvPr/>
        </p:nvSpPr>
        <p:spPr>
          <a:xfrm>
            <a:off x="5122032" y="5229200"/>
            <a:ext cx="4029408" cy="1050607"/>
          </a:xfrm>
          <a:prstGeom prst="rect">
            <a:avLst/>
          </a:prstGeom>
          <a:noFill/>
          <a:ln>
            <a:noFill/>
          </a:ln>
        </p:spPr>
        <p:txBody>
          <a:bodyPr anchorCtr="0" anchor="t" bIns="91425" lIns="91425" spcFirstLastPara="1" rIns="91425" wrap="square" tIns="91425">
            <a:noAutofit/>
          </a:bodyPr>
          <a:lstStyle/>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Arial"/>
                <a:ea typeface="Arial"/>
                <a:cs typeface="Arial"/>
                <a:sym typeface="Arial"/>
              </a:rPr>
              <a:t>システム・アシスト</a:t>
            </a:r>
            <a:endParaRPr b="0" i="0" sz="3200" u="none" cap="none" strike="noStrike">
              <a:solidFill>
                <a:srgbClr val="002060"/>
              </a:solidFill>
              <a:latin typeface="Arial"/>
              <a:ea typeface="Arial"/>
              <a:cs typeface="Arial"/>
              <a:sym typeface="Arial"/>
            </a:endParaRPr>
          </a:p>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Arial"/>
                <a:ea typeface="Arial"/>
                <a:cs typeface="Arial"/>
                <a:sym typeface="Arial"/>
              </a:rPr>
              <a:t>SPENDA</a:t>
            </a:r>
            <a:endParaRPr b="0" i="0" sz="3200" u="none" cap="none" strike="noStrike">
              <a:solidFill>
                <a:srgbClr val="002060"/>
              </a:solidFill>
              <a:latin typeface="Arial"/>
              <a:ea typeface="Arial"/>
              <a:cs typeface="Arial"/>
              <a:sym typeface="Arial"/>
            </a:endParaRPr>
          </a:p>
        </p:txBody>
      </p:sp>
      <p:sp>
        <p:nvSpPr>
          <p:cNvPr id="95" name="Google Shape;95;p1"/>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96" name="Google Shape;96;p1"/>
          <p:cNvSpPr txBox="1"/>
          <p:nvPr/>
        </p:nvSpPr>
        <p:spPr>
          <a:xfrm>
            <a:off x="1208584" y="3215452"/>
            <a:ext cx="6718720" cy="1482655"/>
          </a:xfrm>
          <a:prstGeom prst="rect">
            <a:avLst/>
          </a:prstGeom>
          <a:noFill/>
          <a:ln>
            <a:noFill/>
          </a:ln>
        </p:spPr>
        <p:txBody>
          <a:bodyPr anchorCtr="0" anchor="t" bIns="91425" lIns="91425" spcFirstLastPara="1" rIns="91425" wrap="square" tIns="91425">
            <a:noAutofit/>
          </a:bodyPr>
          <a:lstStyle/>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Meiryo"/>
                <a:ea typeface="Meiryo"/>
                <a:cs typeface="Meiryo"/>
                <a:sym typeface="Meiryo"/>
              </a:rPr>
              <a:t>1. 昨年度との比較結果</a:t>
            </a:r>
            <a:endParaRPr b="0" i="0" sz="3200" u="none" cap="none" strike="noStrike">
              <a:solidFill>
                <a:srgbClr val="002060"/>
              </a:solidFill>
              <a:latin typeface="Meiryo"/>
              <a:ea typeface="Meiryo"/>
              <a:cs typeface="Meiryo"/>
              <a:sym typeface="Meiryo"/>
            </a:endParaRPr>
          </a:p>
          <a:p>
            <a:pPr indent="0" lvl="0" marL="76200" marR="0" rtl="0" algn="l">
              <a:lnSpc>
                <a:spcPct val="100000"/>
              </a:lnSpc>
              <a:spcBef>
                <a:spcPts val="0"/>
              </a:spcBef>
              <a:spcAft>
                <a:spcPts val="0"/>
              </a:spcAft>
              <a:buClr>
                <a:schemeClr val="dk1"/>
              </a:buClr>
              <a:buSzPts val="3200"/>
              <a:buFont typeface="Arial"/>
              <a:buNone/>
            </a:pPr>
            <a:r>
              <a:rPr b="0" i="0" lang="ja-JP" sz="3200" u="none" cap="none" strike="noStrike">
                <a:solidFill>
                  <a:srgbClr val="002060"/>
                </a:solidFill>
                <a:latin typeface="Meiryo"/>
                <a:ea typeface="Meiryo"/>
                <a:cs typeface="Meiryo"/>
                <a:sym typeface="Meiryo"/>
              </a:rPr>
              <a:t>2. 詳細結果と改善施策</a:t>
            </a:r>
            <a:endParaRPr b="0" i="0" sz="3200" u="none" cap="none" strike="noStrike">
              <a:solidFill>
                <a:srgbClr val="002060"/>
              </a:solidFill>
              <a:latin typeface="Meiryo"/>
              <a:ea typeface="Meiryo"/>
              <a:cs typeface="Meiryo"/>
              <a:sym typeface="Meiryo"/>
            </a:endParaRPr>
          </a:p>
        </p:txBody>
      </p:sp>
      <p:sp>
        <p:nvSpPr>
          <p:cNvPr id="97" name="Google Shape;97;p1"/>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p:nvPr/>
        </p:nvSpPr>
        <p:spPr>
          <a:xfrm>
            <a:off x="-8736" y="0"/>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06" name="Google Shape;106;p2"/>
          <p:cNvSpPr txBox="1"/>
          <p:nvPr/>
        </p:nvSpPr>
        <p:spPr>
          <a:xfrm>
            <a:off x="326686" y="2137194"/>
            <a:ext cx="2538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ja-JP" sz="2000" u="sng" cap="none" strike="noStrike">
                <a:solidFill>
                  <a:schemeClr val="dk1"/>
                </a:solidFill>
                <a:latin typeface="Meiryo"/>
                <a:ea typeface="Meiryo"/>
                <a:cs typeface="Meiryo"/>
                <a:sym typeface="Meiryo"/>
              </a:rPr>
              <a:t>有料広告全体</a:t>
            </a:r>
            <a:endParaRPr b="0" i="0" sz="2000" u="sng" cap="none" strike="noStrike">
              <a:solidFill>
                <a:schemeClr val="dk1"/>
              </a:solidFill>
              <a:latin typeface="Meiryo"/>
              <a:ea typeface="Meiryo"/>
              <a:cs typeface="Meiryo"/>
              <a:sym typeface="Meiryo"/>
            </a:endParaRPr>
          </a:p>
        </p:txBody>
      </p:sp>
      <p:sp>
        <p:nvSpPr>
          <p:cNvPr id="107" name="Google Shape;107;p2"/>
          <p:cNvSpPr txBox="1"/>
          <p:nvPr/>
        </p:nvSpPr>
        <p:spPr>
          <a:xfrm>
            <a:off x="326676" y="3737006"/>
            <a:ext cx="283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ja-JP" sz="2000" u="sng" cap="none" strike="noStrike">
                <a:solidFill>
                  <a:schemeClr val="dk1"/>
                </a:solidFill>
                <a:latin typeface="Meiryo"/>
                <a:ea typeface="Meiryo"/>
                <a:cs typeface="Meiryo"/>
                <a:sym typeface="Meiryo"/>
              </a:rPr>
              <a:t>Google,Yahoo別</a:t>
            </a:r>
            <a:endParaRPr b="0" i="0" sz="2000" u="sng" cap="none" strike="noStrike">
              <a:solidFill>
                <a:schemeClr val="dk1"/>
              </a:solidFill>
              <a:latin typeface="Meiryo"/>
              <a:ea typeface="Meiryo"/>
              <a:cs typeface="Meiryo"/>
              <a:sym typeface="Meiryo"/>
            </a:endParaRPr>
          </a:p>
        </p:txBody>
      </p:sp>
      <p:sp>
        <p:nvSpPr>
          <p:cNvPr id="108" name="Google Shape;108;p2"/>
          <p:cNvSpPr txBox="1"/>
          <p:nvPr/>
        </p:nvSpPr>
        <p:spPr>
          <a:xfrm>
            <a:off x="776535" y="200543"/>
            <a:ext cx="9129465"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全体結果、過去同月との比較</a:t>
            </a:r>
            <a:endParaRPr b="1" i="0" sz="2400" u="none" cap="none" strike="noStrike">
              <a:solidFill>
                <a:srgbClr val="002060"/>
              </a:solidFill>
              <a:latin typeface="Arial"/>
              <a:ea typeface="Arial"/>
              <a:cs typeface="Arial"/>
              <a:sym typeface="Arial"/>
            </a:endParaRPr>
          </a:p>
        </p:txBody>
      </p:sp>
      <p:grpSp>
        <p:nvGrpSpPr>
          <p:cNvPr id="109" name="Google Shape;109;p2"/>
          <p:cNvGrpSpPr/>
          <p:nvPr/>
        </p:nvGrpSpPr>
        <p:grpSpPr>
          <a:xfrm>
            <a:off x="197301" y="169894"/>
            <a:ext cx="576001" cy="576000"/>
            <a:chOff x="295350" y="259019"/>
            <a:chExt cx="614400" cy="614399"/>
          </a:xfrm>
        </p:grpSpPr>
        <p:sp>
          <p:nvSpPr>
            <p:cNvPr id="110" name="Google Shape;110;p2"/>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11" name="Google Shape;111;p2"/>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12" name="Google Shape;112;p2"/>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2"/>
          <p:cNvSpPr txBox="1"/>
          <p:nvPr/>
        </p:nvSpPr>
        <p:spPr>
          <a:xfrm>
            <a:off x="2" y="890723"/>
            <a:ext cx="99060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ja-JP" sz="1700" u="none" cap="none" strike="noStrike">
                <a:solidFill>
                  <a:schemeClr val="dk1"/>
                </a:solidFill>
                <a:latin typeface="Meiryo"/>
                <a:ea typeface="Meiryo"/>
                <a:cs typeface="Meiryo"/>
                <a:sym typeface="Meiryo"/>
              </a:rPr>
              <a:t>GoogleやYahoo!の全体CPAは</a:t>
            </a:r>
            <a:r>
              <a:rPr lang="ja-JP" sz="1700">
                <a:solidFill>
                  <a:schemeClr val="dk1"/>
                </a:solidFill>
                <a:latin typeface="Meiryo"/>
                <a:ea typeface="Meiryo"/>
                <a:cs typeface="Meiryo"/>
                <a:sym typeface="Meiryo"/>
              </a:rPr>
              <a:t>12,517</a:t>
            </a:r>
            <a:r>
              <a:rPr b="0" i="0" lang="ja-JP" sz="1700" u="none" cap="none" strike="noStrike">
                <a:solidFill>
                  <a:schemeClr val="dk1"/>
                </a:solidFill>
                <a:latin typeface="Meiryo"/>
                <a:ea typeface="Meiryo"/>
                <a:cs typeface="Meiryo"/>
                <a:sym typeface="Meiryo"/>
              </a:rPr>
              <a:t>円でした。直近2年で比較すると、流入</a:t>
            </a:r>
            <a:r>
              <a:rPr lang="ja-JP" sz="1700">
                <a:solidFill>
                  <a:schemeClr val="dk1"/>
                </a:solidFill>
                <a:latin typeface="Meiryo"/>
                <a:ea typeface="Meiryo"/>
                <a:cs typeface="Meiryo"/>
                <a:sym typeface="Meiryo"/>
              </a:rPr>
              <a:t>は</a:t>
            </a:r>
            <a:r>
              <a:rPr b="0" i="0" lang="ja-JP" sz="1700" u="none" cap="none" strike="noStrike">
                <a:solidFill>
                  <a:schemeClr val="dk1"/>
                </a:solidFill>
                <a:latin typeface="Meiryo"/>
                <a:ea typeface="Meiryo"/>
                <a:cs typeface="Meiryo"/>
                <a:sym typeface="Meiryo"/>
              </a:rPr>
              <a:t>増加し</a:t>
            </a:r>
            <a:r>
              <a:rPr lang="ja-JP" sz="1700">
                <a:solidFill>
                  <a:schemeClr val="dk1"/>
                </a:solidFill>
                <a:latin typeface="Meiryo"/>
                <a:ea typeface="Meiryo"/>
                <a:cs typeface="Meiryo"/>
                <a:sym typeface="Meiryo"/>
              </a:rPr>
              <a:t>ましたが</a:t>
            </a:r>
            <a:r>
              <a:rPr b="0" i="0" lang="ja-JP" sz="1700" u="none" cap="none" strike="noStrike">
                <a:solidFill>
                  <a:schemeClr val="dk1"/>
                </a:solidFill>
                <a:latin typeface="Meiryo"/>
                <a:ea typeface="Meiryo"/>
                <a:cs typeface="Meiryo"/>
                <a:sym typeface="Meiryo"/>
              </a:rPr>
              <a:t>、</a:t>
            </a:r>
            <a:r>
              <a:rPr lang="ja-JP" sz="1700">
                <a:solidFill>
                  <a:schemeClr val="dk1"/>
                </a:solidFill>
                <a:latin typeface="Meiryo"/>
                <a:ea typeface="Meiryo"/>
                <a:cs typeface="Meiryo"/>
                <a:sym typeface="Meiryo"/>
              </a:rPr>
              <a:t>CVRが伸びずCV数は減少しました</a:t>
            </a:r>
            <a:r>
              <a:rPr b="0" i="0" lang="ja-JP" sz="1700" u="none" cap="none" strike="noStrike">
                <a:solidFill>
                  <a:schemeClr val="dk1"/>
                </a:solidFill>
                <a:latin typeface="Meiryo"/>
                <a:ea typeface="Meiryo"/>
                <a:cs typeface="Meiryo"/>
                <a:sym typeface="Meiryo"/>
              </a:rPr>
              <a:t>。</a:t>
            </a:r>
            <a:r>
              <a:rPr lang="ja-JP" sz="1700">
                <a:solidFill>
                  <a:schemeClr val="dk1"/>
                </a:solidFill>
                <a:latin typeface="Meiryo"/>
                <a:ea typeface="Meiryo"/>
                <a:cs typeface="Meiryo"/>
                <a:sym typeface="Meiryo"/>
              </a:rPr>
              <a:t>検索広告やP-MAXで獲得が進みましたが、ディスプレイ面での獲得が進まず、CPAとしては悪化しています。</a:t>
            </a:r>
            <a:endParaRPr b="0" i="0" sz="17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Meiryo"/>
              <a:ea typeface="Meiryo"/>
              <a:cs typeface="Meiryo"/>
              <a:sym typeface="Meiryo"/>
            </a:endParaRPr>
          </a:p>
        </p:txBody>
      </p:sp>
      <p:sp>
        <p:nvSpPr>
          <p:cNvPr id="114" name="Google Shape;114;p2"/>
          <p:cNvSpPr txBox="1"/>
          <p:nvPr/>
        </p:nvSpPr>
        <p:spPr>
          <a:xfrm>
            <a:off x="5434416" y="6143858"/>
            <a:ext cx="4054048"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ja-JP" sz="1400" u="none" cap="none" strike="noStrike">
                <a:solidFill>
                  <a:schemeClr val="dk1"/>
                </a:solidFill>
                <a:latin typeface="Meiryo"/>
                <a:ea typeface="Meiryo"/>
                <a:cs typeface="Meiryo"/>
                <a:sym typeface="Meiryo"/>
              </a:rPr>
              <a:t>※レポート作成時の比較（翌月2日前後）</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400"/>
              <a:buFont typeface="Arial"/>
              <a:buNone/>
            </a:pPr>
            <a:r>
              <a:rPr b="0" i="0" lang="ja-JP" sz="1400" u="none" cap="none" strike="noStrike">
                <a:solidFill>
                  <a:schemeClr val="dk1"/>
                </a:solidFill>
                <a:latin typeface="Meiryo"/>
                <a:ea typeface="Meiryo"/>
                <a:cs typeface="Meiryo"/>
                <a:sym typeface="Meiryo"/>
              </a:rPr>
              <a:t>※Instagram/Microsoft広告分は除く</a:t>
            </a:r>
            <a:endParaRPr b="0" i="0" sz="1400" u="none" cap="none" strike="noStrike">
              <a:solidFill>
                <a:schemeClr val="dk1"/>
              </a:solidFill>
              <a:latin typeface="Meiryo"/>
              <a:ea typeface="Meiryo"/>
              <a:cs typeface="Meiryo"/>
              <a:sym typeface="Meiryo"/>
            </a:endParaRPr>
          </a:p>
        </p:txBody>
      </p:sp>
      <p:pic>
        <p:nvPicPr>
          <p:cNvPr id="115" name="Google Shape;115;p2"/>
          <p:cNvPicPr preferRelativeResize="0"/>
          <p:nvPr/>
        </p:nvPicPr>
        <p:blipFill>
          <a:blip r:embed="rId4">
            <a:alphaModFix/>
          </a:blip>
          <a:stretch>
            <a:fillRect/>
          </a:stretch>
        </p:blipFill>
        <p:spPr>
          <a:xfrm>
            <a:off x="152400" y="2537969"/>
            <a:ext cx="9534525" cy="952500"/>
          </a:xfrm>
          <a:prstGeom prst="rect">
            <a:avLst/>
          </a:prstGeom>
          <a:noFill/>
          <a:ln>
            <a:noFill/>
          </a:ln>
        </p:spPr>
      </p:pic>
      <p:pic>
        <p:nvPicPr>
          <p:cNvPr id="116" name="Google Shape;116;p2"/>
          <p:cNvPicPr preferRelativeResize="0"/>
          <p:nvPr/>
        </p:nvPicPr>
        <p:blipFill>
          <a:blip r:embed="rId5">
            <a:alphaModFix/>
          </a:blip>
          <a:stretch>
            <a:fillRect/>
          </a:stretch>
        </p:blipFill>
        <p:spPr>
          <a:xfrm>
            <a:off x="152400" y="4137200"/>
            <a:ext cx="8857560" cy="2006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 name="Google Shape;123;p3"/>
          <p:cNvSpPr txBox="1"/>
          <p:nvPr>
            <p:ph idx="12" type="sldNum"/>
          </p:nvPr>
        </p:nvSpPr>
        <p:spPr>
          <a:xfrm>
            <a:off x="9705552" y="6673947"/>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24" name="Google Shape;124;p3"/>
          <p:cNvSpPr txBox="1"/>
          <p:nvPr/>
        </p:nvSpPr>
        <p:spPr>
          <a:xfrm>
            <a:off x="55800" y="905626"/>
            <a:ext cx="97944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ja-JP" sz="1700">
                <a:solidFill>
                  <a:schemeClr val="dk1"/>
                </a:solidFill>
                <a:latin typeface="Meiryo"/>
                <a:ea typeface="Meiryo"/>
                <a:cs typeface="Meiryo"/>
                <a:sym typeface="Meiryo"/>
              </a:rPr>
              <a:t>昨年と比較すると、P-MAX経由が落ち込んでいます。デバイス別ではタブレットやPC経由は大きく変化はなく、スマホからの獲得が伸び悩みました。6月は獲得が進むよう、遷移先の調整など行いP-MAXを中心に改善していきます。</a:t>
            </a:r>
            <a:endParaRPr b="0" i="0" sz="1700" u="none" cap="none" strike="noStrike">
              <a:solidFill>
                <a:schemeClr val="dk1"/>
              </a:solidFill>
              <a:latin typeface="Meiryo"/>
              <a:ea typeface="Meiryo"/>
              <a:cs typeface="Meiryo"/>
              <a:sym typeface="Meiryo"/>
            </a:endParaRPr>
          </a:p>
        </p:txBody>
      </p:sp>
      <p:grpSp>
        <p:nvGrpSpPr>
          <p:cNvPr id="125" name="Google Shape;125;p3"/>
          <p:cNvGrpSpPr/>
          <p:nvPr/>
        </p:nvGrpSpPr>
        <p:grpSpPr>
          <a:xfrm>
            <a:off x="197301" y="169894"/>
            <a:ext cx="576001" cy="576000"/>
            <a:chOff x="295350" y="259019"/>
            <a:chExt cx="614400" cy="614399"/>
          </a:xfrm>
        </p:grpSpPr>
        <p:sp>
          <p:nvSpPr>
            <p:cNvPr id="126" name="Google Shape;126;p3"/>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27" name="Google Shape;127;p3"/>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28" name="Google Shape;128;p3"/>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 name="Google Shape;129;p3"/>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媒体/デバイス/検索ディスプレイ別結果</a:t>
            </a:r>
            <a:endParaRPr b="1" i="0" sz="2400" u="none" cap="none" strike="noStrike">
              <a:solidFill>
                <a:srgbClr val="002060"/>
              </a:solidFill>
              <a:latin typeface="Arial"/>
              <a:ea typeface="Arial"/>
              <a:cs typeface="Arial"/>
              <a:sym typeface="Arial"/>
            </a:endParaRPr>
          </a:p>
        </p:txBody>
      </p:sp>
      <p:pic>
        <p:nvPicPr>
          <p:cNvPr id="130" name="Google Shape;130;p3"/>
          <p:cNvPicPr preferRelativeResize="0"/>
          <p:nvPr/>
        </p:nvPicPr>
        <p:blipFill rotWithShape="1">
          <a:blip r:embed="rId4">
            <a:alphaModFix/>
          </a:blip>
          <a:srcRect b="0" l="0" r="0" t="0"/>
          <a:stretch/>
        </p:blipFill>
        <p:spPr>
          <a:xfrm>
            <a:off x="9043275" y="2761700"/>
            <a:ext cx="862725" cy="738025"/>
          </a:xfrm>
          <a:prstGeom prst="rect">
            <a:avLst/>
          </a:prstGeom>
          <a:noFill/>
          <a:ln>
            <a:noFill/>
          </a:ln>
        </p:spPr>
      </p:pic>
      <p:pic>
        <p:nvPicPr>
          <p:cNvPr id="131" name="Google Shape;131;p3"/>
          <p:cNvPicPr preferRelativeResize="0"/>
          <p:nvPr/>
        </p:nvPicPr>
        <p:blipFill rotWithShape="1">
          <a:blip r:embed="rId5">
            <a:alphaModFix/>
          </a:blip>
          <a:srcRect b="0" l="0" r="0" t="0"/>
          <a:stretch/>
        </p:blipFill>
        <p:spPr>
          <a:xfrm>
            <a:off x="8890875" y="4957300"/>
            <a:ext cx="862725" cy="893545"/>
          </a:xfrm>
          <a:prstGeom prst="rect">
            <a:avLst/>
          </a:prstGeom>
          <a:noFill/>
          <a:ln>
            <a:noFill/>
          </a:ln>
        </p:spPr>
      </p:pic>
      <p:pic>
        <p:nvPicPr>
          <p:cNvPr id="132" name="Google Shape;132;p3"/>
          <p:cNvPicPr preferRelativeResize="0"/>
          <p:nvPr/>
        </p:nvPicPr>
        <p:blipFill>
          <a:blip r:embed="rId6">
            <a:alphaModFix/>
          </a:blip>
          <a:stretch>
            <a:fillRect/>
          </a:stretch>
        </p:blipFill>
        <p:spPr>
          <a:xfrm>
            <a:off x="128475" y="2184850"/>
            <a:ext cx="8512400" cy="4344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p:nvPr/>
        </p:nvSpPr>
        <p:spPr>
          <a:xfrm>
            <a:off x="1701"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4"/>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CV種類の月次推移</a:t>
            </a:r>
            <a:endParaRPr b="1" i="0" sz="2400" u="none" cap="none" strike="noStrike">
              <a:solidFill>
                <a:srgbClr val="002060"/>
              </a:solidFill>
              <a:latin typeface="Arial"/>
              <a:ea typeface="Arial"/>
              <a:cs typeface="Arial"/>
              <a:sym typeface="Arial"/>
            </a:endParaRPr>
          </a:p>
        </p:txBody>
      </p:sp>
      <p:sp>
        <p:nvSpPr>
          <p:cNvPr id="140" name="Google Shape;140;p4"/>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41" name="Google Shape;141;p4"/>
          <p:cNvSpPr txBox="1"/>
          <p:nvPr/>
        </p:nvSpPr>
        <p:spPr>
          <a:xfrm>
            <a:off x="27300" y="996975"/>
            <a:ext cx="98106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lang="ja-JP" sz="1700">
                <a:solidFill>
                  <a:schemeClr val="dk1"/>
                </a:solidFill>
                <a:latin typeface="Meiryo"/>
                <a:ea typeface="Meiryo"/>
                <a:cs typeface="Meiryo"/>
                <a:sym typeface="Meiryo"/>
              </a:rPr>
              <a:t>CVは体験学習が多く、次いで資料請求、Qubo経由という順でした。昨年比ではQubo経由が大きく落ち込んでいます。Quboの発火条件を調整している影響も考えられますが、それ以上に夏期講習や模試の獲得が落ちています。6月はQubo獲得が進むよう訴求を調整いたします。</a:t>
            </a:r>
            <a:endParaRPr b="0" i="0" sz="1700" u="none" cap="none" strike="noStrike">
              <a:solidFill>
                <a:schemeClr val="dk1"/>
              </a:solidFill>
              <a:latin typeface="Meiryo"/>
              <a:ea typeface="Meiryo"/>
              <a:cs typeface="Meiryo"/>
              <a:sym typeface="Meiryo"/>
            </a:endParaRPr>
          </a:p>
        </p:txBody>
      </p:sp>
      <p:sp>
        <p:nvSpPr>
          <p:cNvPr id="142" name="Google Shape;142;p4"/>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43" name="Google Shape;143;p4"/>
          <p:cNvGrpSpPr/>
          <p:nvPr/>
        </p:nvGrpSpPr>
        <p:grpSpPr>
          <a:xfrm>
            <a:off x="197301" y="169894"/>
            <a:ext cx="576001" cy="576000"/>
            <a:chOff x="295350" y="259019"/>
            <a:chExt cx="614400" cy="614399"/>
          </a:xfrm>
        </p:grpSpPr>
        <p:sp>
          <p:nvSpPr>
            <p:cNvPr id="144" name="Google Shape;144;p4"/>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45" name="Google Shape;145;p4"/>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pic>
        <p:nvPicPr>
          <p:cNvPr id="146" name="Google Shape;146;p4"/>
          <p:cNvPicPr preferRelativeResize="0"/>
          <p:nvPr/>
        </p:nvPicPr>
        <p:blipFill rotWithShape="1">
          <a:blip r:embed="rId4">
            <a:alphaModFix/>
          </a:blip>
          <a:srcRect b="0" l="0" r="0" t="0"/>
          <a:stretch/>
        </p:blipFill>
        <p:spPr>
          <a:xfrm>
            <a:off x="9026150" y="2590800"/>
            <a:ext cx="742950" cy="1219200"/>
          </a:xfrm>
          <a:prstGeom prst="rect">
            <a:avLst/>
          </a:prstGeom>
          <a:noFill/>
          <a:ln>
            <a:noFill/>
          </a:ln>
        </p:spPr>
      </p:pic>
      <p:pic>
        <p:nvPicPr>
          <p:cNvPr id="147" name="Google Shape;147;p4"/>
          <p:cNvPicPr preferRelativeResize="0"/>
          <p:nvPr/>
        </p:nvPicPr>
        <p:blipFill>
          <a:blip r:embed="rId5">
            <a:alphaModFix/>
          </a:blip>
          <a:stretch>
            <a:fillRect/>
          </a:stretch>
        </p:blipFill>
        <p:spPr>
          <a:xfrm>
            <a:off x="152400" y="2288475"/>
            <a:ext cx="8721348" cy="40977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 name="Google Shape;154;p5"/>
          <p:cNvSpPr txBox="1"/>
          <p:nvPr/>
        </p:nvSpPr>
        <p:spPr>
          <a:xfrm>
            <a:off x="773302" y="173655"/>
            <a:ext cx="84345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キャンペーン別CV数結果 (chuman.jp)</a:t>
            </a:r>
            <a:endParaRPr b="1" i="0" sz="2400" u="none" cap="none" strike="noStrike">
              <a:solidFill>
                <a:srgbClr val="002060"/>
              </a:solidFill>
              <a:latin typeface="Arial"/>
              <a:ea typeface="Arial"/>
              <a:cs typeface="Arial"/>
              <a:sym typeface="Arial"/>
            </a:endParaRPr>
          </a:p>
        </p:txBody>
      </p:sp>
      <p:sp>
        <p:nvSpPr>
          <p:cNvPr id="155" name="Google Shape;155;p5"/>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156" name="Google Shape;156;p5"/>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57" name="Google Shape;157;p5"/>
          <p:cNvGrpSpPr/>
          <p:nvPr/>
        </p:nvGrpSpPr>
        <p:grpSpPr>
          <a:xfrm>
            <a:off x="197301" y="169894"/>
            <a:ext cx="576000" cy="576000"/>
            <a:chOff x="295350" y="259019"/>
            <a:chExt cx="614400" cy="614400"/>
          </a:xfrm>
        </p:grpSpPr>
        <p:sp>
          <p:nvSpPr>
            <p:cNvPr id="158" name="Google Shape;158;p5"/>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59" name="Google Shape;159;p5"/>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160" name="Google Shape;160;p5"/>
          <p:cNvSpPr txBox="1"/>
          <p:nvPr/>
        </p:nvSpPr>
        <p:spPr>
          <a:xfrm>
            <a:off x="72594" y="924720"/>
            <a:ext cx="97608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ja-JP" sz="1700" u="none" cap="none" strike="noStrike">
                <a:solidFill>
                  <a:schemeClr val="dk1"/>
                </a:solidFill>
                <a:latin typeface="Meiryo"/>
                <a:ea typeface="Meiryo"/>
                <a:cs typeface="Meiryo"/>
                <a:sym typeface="Meiryo"/>
              </a:rPr>
              <a:t>昨年と比較すると、</a:t>
            </a:r>
            <a:r>
              <a:rPr lang="ja-JP" sz="1700">
                <a:solidFill>
                  <a:schemeClr val="dk1"/>
                </a:solidFill>
                <a:latin typeface="Meiryo"/>
                <a:ea typeface="Meiryo"/>
                <a:cs typeface="Meiryo"/>
                <a:sym typeface="Meiryo"/>
              </a:rPr>
              <a:t>指名検索は1件伸びています</a:t>
            </a:r>
            <a:r>
              <a:rPr b="0" i="0" lang="ja-JP" sz="1700" u="none" cap="none" strike="noStrike">
                <a:solidFill>
                  <a:schemeClr val="dk1"/>
                </a:solidFill>
                <a:latin typeface="Meiryo"/>
                <a:ea typeface="Meiryo"/>
                <a:cs typeface="Meiryo"/>
                <a:sym typeface="Meiryo"/>
              </a:rPr>
              <a:t>。</a:t>
            </a:r>
            <a:r>
              <a:rPr lang="ja-JP" sz="1700">
                <a:solidFill>
                  <a:schemeClr val="dk1"/>
                </a:solidFill>
                <a:latin typeface="Meiryo"/>
                <a:ea typeface="Meiryo"/>
                <a:cs typeface="Meiryo"/>
                <a:sym typeface="Meiryo"/>
              </a:rPr>
              <a:t>一方でP-MAX経由が24件減少しており、全体CPAの悪化要因になっています。特にQubo経由CVが減少しているため、6月で獲得が進むよう遷移先や訴求の調整を行います。</a:t>
            </a:r>
            <a:endParaRPr b="0" i="0" sz="17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t/>
            </a:r>
            <a:endParaRPr b="0" i="0" sz="1700" u="none" cap="none" strike="noStrike">
              <a:solidFill>
                <a:schemeClr val="dk1"/>
              </a:solidFill>
              <a:latin typeface="Meiryo"/>
              <a:ea typeface="Meiryo"/>
              <a:cs typeface="Meiryo"/>
              <a:sym typeface="Meiryo"/>
            </a:endParaRPr>
          </a:p>
        </p:txBody>
      </p:sp>
      <p:sp>
        <p:nvSpPr>
          <p:cNvPr id="161" name="Google Shape;161;p5"/>
          <p:cNvSpPr txBox="1"/>
          <p:nvPr/>
        </p:nvSpPr>
        <p:spPr>
          <a:xfrm>
            <a:off x="218783" y="2464116"/>
            <a:ext cx="314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キャンペーン月別結果</a:t>
            </a:r>
            <a:endParaRPr b="1" i="0" sz="1800" u="sng" cap="none" strike="noStrike">
              <a:solidFill>
                <a:schemeClr val="dk1"/>
              </a:solidFill>
              <a:latin typeface="Arial"/>
              <a:ea typeface="Arial"/>
              <a:cs typeface="Arial"/>
              <a:sym typeface="Arial"/>
            </a:endParaRPr>
          </a:p>
        </p:txBody>
      </p:sp>
      <p:sp>
        <p:nvSpPr>
          <p:cNvPr id="162" name="Google Shape;162;p5"/>
          <p:cNvSpPr txBox="1"/>
          <p:nvPr/>
        </p:nvSpPr>
        <p:spPr>
          <a:xfrm>
            <a:off x="7216420" y="6325594"/>
            <a:ext cx="2725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ja-JP" sz="2000" u="none" cap="none" strike="noStrike">
                <a:solidFill>
                  <a:srgbClr val="000000"/>
                </a:solidFill>
                <a:latin typeface="Arial"/>
                <a:ea typeface="Arial"/>
                <a:cs typeface="Arial"/>
                <a:sym typeface="Arial"/>
              </a:rPr>
              <a:t>緑：増加　赤：減少</a:t>
            </a:r>
            <a:endParaRPr b="0" i="0" sz="2000" u="none" cap="none" strike="noStrike">
              <a:solidFill>
                <a:srgbClr val="000000"/>
              </a:solidFill>
              <a:latin typeface="Arial"/>
              <a:ea typeface="Arial"/>
              <a:cs typeface="Arial"/>
              <a:sym typeface="Arial"/>
            </a:endParaRPr>
          </a:p>
        </p:txBody>
      </p:sp>
      <p:graphicFrame>
        <p:nvGraphicFramePr>
          <p:cNvPr id="163" name="Google Shape;163;p5"/>
          <p:cNvGraphicFramePr/>
          <p:nvPr/>
        </p:nvGraphicFramePr>
        <p:xfrm>
          <a:off x="152400" y="2879325"/>
          <a:ext cx="3000000" cy="3000000"/>
        </p:xfrm>
        <a:graphic>
          <a:graphicData uri="http://schemas.openxmlformats.org/drawingml/2006/table">
            <a:tbl>
              <a:tblPr>
                <a:noFill/>
                <a:tableStyleId>{DC483CEB-45F6-44CC-9B92-57D7032789AA}</a:tableStyleId>
              </a:tblPr>
              <a:tblGrid>
                <a:gridCol w="952500"/>
                <a:gridCol w="409575"/>
                <a:gridCol w="409575"/>
                <a:gridCol w="409575"/>
                <a:gridCol w="409575"/>
                <a:gridCol w="409575"/>
                <a:gridCol w="409575"/>
                <a:gridCol w="409575"/>
                <a:gridCol w="409575"/>
                <a:gridCol w="409575"/>
                <a:gridCol w="409575"/>
                <a:gridCol w="409575"/>
                <a:gridCol w="409575"/>
                <a:gridCol w="133350"/>
                <a:gridCol w="561975"/>
                <a:gridCol w="561975"/>
                <a:gridCol w="561975"/>
                <a:gridCol w="561975"/>
                <a:gridCol w="561975"/>
                <a:gridCol w="561975"/>
              </a:tblGrid>
              <a:tr h="238125">
                <a:tc rowSpan="2">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gridSpan="12">
                  <a:txBody>
                    <a:bodyPr/>
                    <a:lstStyle/>
                    <a:p>
                      <a:pPr indent="0" lvl="0" marL="0" rtl="0" algn="ctr">
                        <a:lnSpc>
                          <a:spcPct val="115000"/>
                        </a:lnSpc>
                        <a:spcBef>
                          <a:spcPts val="0"/>
                        </a:spcBef>
                        <a:spcAft>
                          <a:spcPts val="0"/>
                        </a:spcAft>
                        <a:buNone/>
                      </a:pPr>
                      <a:r>
                        <a:rPr lang="ja-JP" sz="1000"/>
                        <a:t>CV</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hMerge="1"/>
                <a:tc hMerge="1"/>
                <a:tc hMerge="1"/>
                <a:tc hMerge="1"/>
                <a:tc hMerge="1"/>
                <a:tc hMerge="1"/>
                <a:tc hMerge="1"/>
                <a:tc hMerge="1"/>
                <a:tc hMerge="1"/>
                <a:tc hMerge="1"/>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gridSpan="6">
                  <a:txBody>
                    <a:bodyPr/>
                    <a:lstStyle/>
                    <a:p>
                      <a:pPr indent="0" lvl="0" marL="0" rtl="0" algn="ctr">
                        <a:lnSpc>
                          <a:spcPct val="115000"/>
                        </a:lnSpc>
                        <a:spcBef>
                          <a:spcPts val="0"/>
                        </a:spcBef>
                        <a:spcAft>
                          <a:spcPts val="0"/>
                        </a:spcAft>
                        <a:buNone/>
                      </a:pPr>
                      <a:r>
                        <a:rPr lang="ja-JP" sz="1000"/>
                        <a:t>昨年比</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hMerge="1"/>
                <a:tc hMerge="1"/>
                <a:tc hMerge="1"/>
                <a:tc hMerge="1"/>
              </a:tr>
              <a:tr h="200025">
                <a:tc vMerge="1"/>
                <a:tc gridSpan="2">
                  <a:txBody>
                    <a:bodyPr/>
                    <a:lstStyle/>
                    <a:p>
                      <a:pPr indent="0" lvl="0" marL="0" rtl="0" algn="ctr">
                        <a:lnSpc>
                          <a:spcPct val="115000"/>
                        </a:lnSpc>
                        <a:spcBef>
                          <a:spcPts val="0"/>
                        </a:spcBef>
                        <a:spcAft>
                          <a:spcPts val="0"/>
                        </a:spcAft>
                        <a:buNone/>
                      </a:pPr>
                      <a:r>
                        <a:rPr lang="ja-JP" sz="1000"/>
                        <a:t>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gridSpan="2">
                  <a:txBody>
                    <a:bodyPr/>
                    <a:lstStyle/>
                    <a:p>
                      <a:pPr indent="0" lvl="0" marL="0" rtl="0" algn="ctr">
                        <a:lnSpc>
                          <a:spcPct val="115000"/>
                        </a:lnSpc>
                        <a:spcBef>
                          <a:spcPts val="0"/>
                        </a:spcBef>
                        <a:spcAft>
                          <a:spcPts val="0"/>
                        </a:spcAft>
                        <a:buNone/>
                      </a:pPr>
                      <a:r>
                        <a:rPr lang="ja-JP" sz="1000"/>
                        <a:t>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gridSpan="2">
                  <a:txBody>
                    <a:bodyPr/>
                    <a:lstStyle/>
                    <a:p>
                      <a:pPr indent="0" lvl="0" marL="0" rtl="0" algn="ctr">
                        <a:lnSpc>
                          <a:spcPct val="115000"/>
                        </a:lnSpc>
                        <a:spcBef>
                          <a:spcPts val="0"/>
                        </a:spcBef>
                        <a:spcAft>
                          <a:spcPts val="0"/>
                        </a:spcAft>
                        <a:buNone/>
                      </a:pPr>
                      <a:r>
                        <a:rPr lang="ja-JP" sz="1000"/>
                        <a:t>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gridSpan="2">
                  <a:txBody>
                    <a:bodyPr/>
                    <a:lstStyle/>
                    <a:p>
                      <a:pPr indent="0" lvl="0" marL="0" rtl="0" algn="ct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gridSpan="2">
                  <a:txBody>
                    <a:bodyPr/>
                    <a:lstStyle/>
                    <a:p>
                      <a:pPr indent="0" lvl="0" marL="0" rtl="0" algn="ct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gridSpan="2">
                  <a:txBody>
                    <a:bodyPr/>
                    <a:lstStyle/>
                    <a:p>
                      <a:pPr indent="0" lvl="0" marL="0" rtl="0" algn="ctr">
                        <a:lnSpc>
                          <a:spcPct val="115000"/>
                        </a:lnSpc>
                        <a:spcBef>
                          <a:spcPts val="0"/>
                        </a:spcBef>
                        <a:spcAft>
                          <a:spcPts val="0"/>
                        </a:spcAft>
                        <a:buNone/>
                      </a:pPr>
                      <a:r>
                        <a:rPr lang="ja-JP" sz="1000"/>
                        <a:t>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hMerge="1"/>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ja-JP" sz="1000"/>
                        <a:t>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ctr">
                        <a:lnSpc>
                          <a:spcPct val="115000"/>
                        </a:lnSpc>
                        <a:spcBef>
                          <a:spcPts val="0"/>
                        </a:spcBef>
                        <a:spcAft>
                          <a:spcPts val="0"/>
                        </a:spcAft>
                        <a:buNone/>
                      </a:pPr>
                      <a:r>
                        <a:rPr lang="ja-JP" sz="1000"/>
                        <a:t>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ctr">
                        <a:lnSpc>
                          <a:spcPct val="115000"/>
                        </a:lnSpc>
                        <a:spcBef>
                          <a:spcPts val="0"/>
                        </a:spcBef>
                        <a:spcAft>
                          <a:spcPts val="0"/>
                        </a:spcAft>
                        <a:buNone/>
                      </a:pPr>
                      <a:r>
                        <a:rPr lang="ja-JP" sz="1000"/>
                        <a:t>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ct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ct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ctr">
                        <a:lnSpc>
                          <a:spcPct val="115000"/>
                        </a:lnSpc>
                        <a:spcBef>
                          <a:spcPts val="0"/>
                        </a:spcBef>
                        <a:spcAft>
                          <a:spcPts val="0"/>
                        </a:spcAft>
                        <a:buNone/>
                      </a:pPr>
                      <a:r>
                        <a:rPr lang="ja-JP" sz="1000"/>
                        <a:t>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r>
              <a:tr h="228600">
                <a:tc>
                  <a:txBody>
                    <a:bodyPr/>
                    <a:lstStyle/>
                    <a:p>
                      <a:pPr indent="0" lvl="0" marL="0" rtl="0" algn="l">
                        <a:lnSpc>
                          <a:spcPct val="115000"/>
                        </a:lnSpc>
                        <a:spcBef>
                          <a:spcPts val="0"/>
                        </a:spcBef>
                        <a:spcAft>
                          <a:spcPts val="0"/>
                        </a:spcAft>
                        <a:buNone/>
                      </a:pPr>
                      <a:r>
                        <a:rPr lang="ja-JP" sz="1000"/>
                        <a:t>01.中萬学院</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51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75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123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67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106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88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65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77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solidFill>
                            <a:srgbClr val="327B4D"/>
                          </a:solidFill>
                        </a:rPr>
                        <a:t>1</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56</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56</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18</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-12</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-28</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ja-JP" sz="1000"/>
                        <a:t>04.塾地名系</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2</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2</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-1</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2</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2</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ja-JP" sz="1000"/>
                        <a:t>05.学校名</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solidFill>
                            <a:srgbClr val="AD354C"/>
                          </a:solidFill>
                        </a:rPr>
                        <a:t>-3</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4</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4</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4</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1</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1</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ja-JP" sz="1000"/>
                        <a:t>06.競合</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1</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-13</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ja-JP" sz="1000"/>
                        <a:t>08.中高一貫</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solidFill>
                            <a:srgbClr val="AD354C"/>
                          </a:solidFill>
                        </a:rPr>
                        <a:t>-1</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-2</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-15</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ja-JP" sz="1000"/>
                        <a:t>11.リマケ</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solidFill>
                            <a:srgbClr val="AD354C"/>
                          </a:solidFill>
                        </a:rPr>
                        <a:t>-3</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-34</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-34</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-22</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-18</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-5</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ja-JP" sz="1000"/>
                        <a:t>12.ファインド</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-1</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AD354C"/>
                          </a:solidFill>
                        </a:rPr>
                        <a:t>-1</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8600">
                <a:tc>
                  <a:txBody>
                    <a:bodyPr/>
                    <a:lstStyle/>
                    <a:p>
                      <a:pPr indent="0" lvl="0" marL="0" rtl="0" algn="l">
                        <a:lnSpc>
                          <a:spcPct val="115000"/>
                        </a:lnSpc>
                        <a:spcBef>
                          <a:spcPts val="0"/>
                        </a:spcBef>
                        <a:spcAft>
                          <a:spcPts val="0"/>
                        </a:spcAft>
                        <a:buNone/>
                      </a:pPr>
                      <a:r>
                        <a:rPr lang="ja-JP" sz="1000"/>
                        <a:t>30.PMAX</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F4FF"/>
                    </a:solidFill>
                  </a:tcPr>
                </a:tc>
                <a:tc>
                  <a:txBody>
                    <a:bodyPr/>
                    <a:lstStyle/>
                    <a:p>
                      <a:pPr indent="0" lvl="0" marL="0" rtl="0" algn="r">
                        <a:lnSpc>
                          <a:spcPct val="115000"/>
                        </a:lnSpc>
                        <a:spcBef>
                          <a:spcPts val="0"/>
                        </a:spcBef>
                        <a:spcAft>
                          <a:spcPts val="0"/>
                        </a:spcAft>
                        <a:buNone/>
                      </a:pPr>
                      <a:r>
                        <a:rPr lang="ja-JP" sz="1000"/>
                        <a:t>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109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70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60</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45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t>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rtl="0" algn="r">
                        <a:lnSpc>
                          <a:spcPct val="115000"/>
                        </a:lnSpc>
                        <a:spcBef>
                          <a:spcPts val="0"/>
                        </a:spcBef>
                        <a:spcAft>
                          <a:spcPts val="0"/>
                        </a:spcAft>
                        <a:buNone/>
                      </a:pPr>
                      <a:r>
                        <a:rPr lang="ja-JP" sz="1000">
                          <a:solidFill>
                            <a:srgbClr val="AD354C"/>
                          </a:solidFill>
                        </a:rPr>
                        <a:t>-24</a:t>
                      </a:r>
                      <a:endParaRPr sz="1000">
                        <a:solidFill>
                          <a:srgbClr val="AD354C"/>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39</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39</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13</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19</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JP" sz="1000">
                          <a:solidFill>
                            <a:srgbClr val="327B4D"/>
                          </a:solidFill>
                        </a:rPr>
                        <a:t>29</a:t>
                      </a:r>
                      <a:endParaRPr sz="1000">
                        <a:solidFill>
                          <a:srgbClr val="327B4D"/>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6"/>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rPr>
              <a:t>‹#›</a:t>
            </a:fld>
            <a:endParaRPr b="1">
              <a:solidFill>
                <a:schemeClr val="lt1"/>
              </a:solidFill>
            </a:endParaRPr>
          </a:p>
        </p:txBody>
      </p:sp>
      <p:sp>
        <p:nvSpPr>
          <p:cNvPr id="171" name="Google Shape;171;p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6"/>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中萬学院、中高一貫　KW別結果</a:t>
            </a:r>
            <a:endParaRPr b="1" i="0" sz="2400" u="none" cap="none" strike="noStrike">
              <a:solidFill>
                <a:srgbClr val="002060"/>
              </a:solidFill>
              <a:latin typeface="Arial"/>
              <a:ea typeface="Arial"/>
              <a:cs typeface="Arial"/>
              <a:sym typeface="Arial"/>
            </a:endParaRPr>
          </a:p>
        </p:txBody>
      </p:sp>
      <p:sp>
        <p:nvSpPr>
          <p:cNvPr id="173" name="Google Shape;173;p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4" name="Google Shape;174;p6"/>
          <p:cNvSpPr txBox="1"/>
          <p:nvPr/>
        </p:nvSpPr>
        <p:spPr>
          <a:xfrm>
            <a:off x="28948" y="901434"/>
            <a:ext cx="99060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ja-JP" sz="1700" u="none" cap="none" strike="noStrike">
                <a:solidFill>
                  <a:srgbClr val="000000"/>
                </a:solidFill>
                <a:latin typeface="Meiryo"/>
                <a:ea typeface="Meiryo"/>
                <a:cs typeface="Meiryo"/>
                <a:sym typeface="Meiryo"/>
              </a:rPr>
              <a:t>中萬学院系では、中萬学院からのCV獲得が進みました。Googleのシェア率が落ち込んでいますが、その分PMAXでカバーしている様子が見られます。Yahooのシェア率は9</a:t>
            </a:r>
            <a:r>
              <a:rPr lang="ja-JP" sz="1700">
                <a:latin typeface="Meiryo"/>
                <a:ea typeface="Meiryo"/>
                <a:cs typeface="Meiryo"/>
                <a:sym typeface="Meiryo"/>
              </a:rPr>
              <a:t>8</a:t>
            </a:r>
            <a:r>
              <a:rPr b="0" i="0" lang="ja-JP" sz="1700" u="none" cap="none" strike="noStrike">
                <a:solidFill>
                  <a:srgbClr val="000000"/>
                </a:solidFill>
                <a:latin typeface="Meiryo"/>
                <a:ea typeface="Meiryo"/>
                <a:cs typeface="Meiryo"/>
                <a:sym typeface="Meiryo"/>
              </a:rPr>
              <a:t>%です。中高一貫はCVがありませんでした。今後は、過去にCVがあったキーワードに注力をして、引き続き展開をしていきます。</a:t>
            </a:r>
            <a:endParaRPr b="0" i="0" sz="1700" u="none" cap="none" strike="noStrike">
              <a:solidFill>
                <a:srgbClr val="000000"/>
              </a:solidFill>
              <a:latin typeface="Meiryo"/>
              <a:ea typeface="Meiryo"/>
              <a:cs typeface="Meiryo"/>
              <a:sym typeface="Meiryo"/>
            </a:endParaRPr>
          </a:p>
        </p:txBody>
      </p:sp>
      <p:grpSp>
        <p:nvGrpSpPr>
          <p:cNvPr id="175" name="Google Shape;175;p6"/>
          <p:cNvGrpSpPr/>
          <p:nvPr/>
        </p:nvGrpSpPr>
        <p:grpSpPr>
          <a:xfrm>
            <a:off x="197301" y="169894"/>
            <a:ext cx="576001" cy="576000"/>
            <a:chOff x="295350" y="259019"/>
            <a:chExt cx="614400" cy="614399"/>
          </a:xfrm>
        </p:grpSpPr>
        <p:sp>
          <p:nvSpPr>
            <p:cNvPr id="176" name="Google Shape;176;p6"/>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77" name="Google Shape;177;p6"/>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78" name="Google Shape;178;p6"/>
          <p:cNvSpPr txBox="1"/>
          <p:nvPr/>
        </p:nvSpPr>
        <p:spPr>
          <a:xfrm>
            <a:off x="449145" y="2062814"/>
            <a:ext cx="4104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中萬学院</a:t>
            </a:r>
            <a:endParaRPr b="1" i="0" sz="1800" u="sng" cap="none" strike="noStrike">
              <a:solidFill>
                <a:schemeClr val="dk1"/>
              </a:solidFill>
              <a:latin typeface="Arial"/>
              <a:ea typeface="Arial"/>
              <a:cs typeface="Arial"/>
              <a:sym typeface="Arial"/>
            </a:endParaRPr>
          </a:p>
        </p:txBody>
      </p:sp>
      <p:sp>
        <p:nvSpPr>
          <p:cNvPr id="179" name="Google Shape;179;p6"/>
          <p:cNvSpPr txBox="1"/>
          <p:nvPr/>
        </p:nvSpPr>
        <p:spPr>
          <a:xfrm>
            <a:off x="4979700" y="2062818"/>
            <a:ext cx="439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中高一貫</a:t>
            </a:r>
            <a:endParaRPr b="0" i="0" sz="1400" u="none" cap="none" strike="noStrike">
              <a:solidFill>
                <a:srgbClr val="000000"/>
              </a:solidFill>
              <a:latin typeface="Arial"/>
              <a:ea typeface="Arial"/>
              <a:cs typeface="Arial"/>
              <a:sym typeface="Arial"/>
            </a:endParaRPr>
          </a:p>
        </p:txBody>
      </p:sp>
      <p:pic>
        <p:nvPicPr>
          <p:cNvPr id="180" name="Google Shape;180;p6"/>
          <p:cNvPicPr preferRelativeResize="0"/>
          <p:nvPr/>
        </p:nvPicPr>
        <p:blipFill>
          <a:blip r:embed="rId4">
            <a:alphaModFix/>
          </a:blip>
          <a:stretch>
            <a:fillRect/>
          </a:stretch>
        </p:blipFill>
        <p:spPr>
          <a:xfrm>
            <a:off x="152400" y="2584514"/>
            <a:ext cx="9601200" cy="35753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p7"/>
          <p:cNvSpPr txBox="1"/>
          <p:nvPr>
            <p:ph idx="12" type="sldNum"/>
          </p:nvPr>
        </p:nvSpPr>
        <p:spPr>
          <a:xfrm>
            <a:off x="9705552" y="6684122"/>
            <a:ext cx="216000" cy="2160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rPr>
              <a:t>‹#›</a:t>
            </a:fld>
            <a:endParaRPr b="1">
              <a:solidFill>
                <a:schemeClr val="lt1"/>
              </a:solidFill>
            </a:endParaRPr>
          </a:p>
        </p:txBody>
      </p:sp>
      <p:sp>
        <p:nvSpPr>
          <p:cNvPr id="188" name="Google Shape;188;p7"/>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9" name="Google Shape;189;p7"/>
          <p:cNvSpPr txBox="1"/>
          <p:nvPr/>
        </p:nvSpPr>
        <p:spPr>
          <a:xfrm>
            <a:off x="773302" y="173655"/>
            <a:ext cx="9132698"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学校掛け合わせ、地名掛合せKW別結果</a:t>
            </a:r>
            <a:endParaRPr b="1" i="0" sz="2400" u="none" cap="none" strike="noStrike">
              <a:solidFill>
                <a:srgbClr val="002060"/>
              </a:solidFill>
              <a:latin typeface="Arial"/>
              <a:ea typeface="Arial"/>
              <a:cs typeface="Arial"/>
              <a:sym typeface="Arial"/>
            </a:endParaRPr>
          </a:p>
        </p:txBody>
      </p:sp>
      <p:sp>
        <p:nvSpPr>
          <p:cNvPr id="190" name="Google Shape;190;p7"/>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1" name="Google Shape;191;p7"/>
          <p:cNvSpPr txBox="1"/>
          <p:nvPr/>
        </p:nvSpPr>
        <p:spPr>
          <a:xfrm>
            <a:off x="176400" y="954188"/>
            <a:ext cx="95532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ja-JP" sz="1700" u="none" cap="none" strike="noStrike">
                <a:solidFill>
                  <a:schemeClr val="dk1"/>
                </a:solidFill>
                <a:latin typeface="Meiryo"/>
                <a:ea typeface="Meiryo"/>
                <a:cs typeface="Meiryo"/>
                <a:sym typeface="Meiryo"/>
              </a:rPr>
              <a:t>学校掛け合わせでは過去にCVがあった平塚中等に絞っていますが、成果がありませんでした。地名掛け合わせについて</a:t>
            </a:r>
            <a:r>
              <a:rPr lang="ja-JP" sz="1700">
                <a:solidFill>
                  <a:schemeClr val="dk1"/>
                </a:solidFill>
                <a:latin typeface="Meiryo"/>
                <a:ea typeface="Meiryo"/>
                <a:cs typeface="Meiryo"/>
                <a:sym typeface="Meiryo"/>
              </a:rPr>
              <a:t>も成果はありませんでした</a:t>
            </a:r>
            <a:r>
              <a:rPr b="0" i="0" lang="ja-JP" sz="1700" u="none" cap="none" strike="noStrike">
                <a:solidFill>
                  <a:schemeClr val="dk1"/>
                </a:solidFill>
                <a:latin typeface="Meiryo"/>
                <a:ea typeface="Meiryo"/>
                <a:cs typeface="Meiryo"/>
                <a:sym typeface="Meiryo"/>
              </a:rPr>
              <a:t>。</a:t>
            </a:r>
            <a:r>
              <a:rPr lang="ja-JP" sz="1700">
                <a:solidFill>
                  <a:schemeClr val="dk1"/>
                </a:solidFill>
                <a:latin typeface="Meiryo"/>
                <a:ea typeface="Meiryo"/>
                <a:cs typeface="Meiryo"/>
                <a:sym typeface="Meiryo"/>
              </a:rPr>
              <a:t>指名でも伸び悩んでいるため予算も少額で運用しています。</a:t>
            </a:r>
            <a:r>
              <a:rPr b="0" i="0" lang="ja-JP" sz="1700" u="none" cap="none" strike="noStrike">
                <a:solidFill>
                  <a:schemeClr val="dk1"/>
                </a:solidFill>
                <a:latin typeface="Meiryo"/>
                <a:ea typeface="Meiryo"/>
                <a:cs typeface="Meiryo"/>
                <a:sym typeface="Meiryo"/>
              </a:rPr>
              <a:t>引き続き、CV確率の高いキーワードに絞って少額で運用を続けます。</a:t>
            </a:r>
            <a:endParaRPr b="0" i="0" sz="17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chemeClr val="dk1"/>
              </a:buClr>
              <a:buSzPts val="1100"/>
              <a:buFont typeface="Arial"/>
              <a:buNone/>
            </a:pPr>
            <a:r>
              <a:t/>
            </a:r>
            <a:endParaRPr b="0" i="0" sz="1700" u="none" cap="none" strike="noStrike">
              <a:solidFill>
                <a:schemeClr val="dk1"/>
              </a:solidFill>
              <a:latin typeface="Meiryo"/>
              <a:ea typeface="Meiryo"/>
              <a:cs typeface="Meiryo"/>
              <a:sym typeface="Meiryo"/>
            </a:endParaRPr>
          </a:p>
        </p:txBody>
      </p:sp>
      <p:grpSp>
        <p:nvGrpSpPr>
          <p:cNvPr id="192" name="Google Shape;192;p7"/>
          <p:cNvGrpSpPr/>
          <p:nvPr/>
        </p:nvGrpSpPr>
        <p:grpSpPr>
          <a:xfrm>
            <a:off x="197301" y="169894"/>
            <a:ext cx="576001" cy="576000"/>
            <a:chOff x="295350" y="259019"/>
            <a:chExt cx="614400" cy="614399"/>
          </a:xfrm>
        </p:grpSpPr>
        <p:sp>
          <p:nvSpPr>
            <p:cNvPr id="193" name="Google Shape;193;p7"/>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194" name="Google Shape;194;p7"/>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195" name="Google Shape;195;p7"/>
          <p:cNvSpPr txBox="1"/>
          <p:nvPr/>
        </p:nvSpPr>
        <p:spPr>
          <a:xfrm>
            <a:off x="4953000" y="2122990"/>
            <a:ext cx="439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地名掛け合わせ</a:t>
            </a:r>
            <a:endParaRPr b="1" i="0" sz="1800" u="sng" cap="none" strike="noStrike">
              <a:solidFill>
                <a:schemeClr val="dk1"/>
              </a:solidFill>
              <a:latin typeface="Arial"/>
              <a:ea typeface="Arial"/>
              <a:cs typeface="Arial"/>
              <a:sym typeface="Arial"/>
            </a:endParaRPr>
          </a:p>
        </p:txBody>
      </p:sp>
      <p:sp>
        <p:nvSpPr>
          <p:cNvPr id="196" name="Google Shape;196;p7"/>
          <p:cNvSpPr txBox="1"/>
          <p:nvPr/>
        </p:nvSpPr>
        <p:spPr>
          <a:xfrm>
            <a:off x="61607" y="2122990"/>
            <a:ext cx="439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800" u="sng" cap="none" strike="noStrike">
                <a:solidFill>
                  <a:schemeClr val="dk1"/>
                </a:solidFill>
                <a:latin typeface="Arial"/>
                <a:ea typeface="Arial"/>
                <a:cs typeface="Arial"/>
                <a:sym typeface="Arial"/>
              </a:rPr>
              <a:t>学校掛け合わせ</a:t>
            </a:r>
            <a:endParaRPr b="1" i="0" sz="1800" u="sng" cap="none" strike="noStrike">
              <a:solidFill>
                <a:schemeClr val="dk1"/>
              </a:solidFill>
              <a:latin typeface="Arial"/>
              <a:ea typeface="Arial"/>
              <a:cs typeface="Arial"/>
              <a:sym typeface="Arial"/>
            </a:endParaRPr>
          </a:p>
        </p:txBody>
      </p:sp>
      <p:pic>
        <p:nvPicPr>
          <p:cNvPr id="197" name="Google Shape;197;p7"/>
          <p:cNvPicPr preferRelativeResize="0"/>
          <p:nvPr/>
        </p:nvPicPr>
        <p:blipFill>
          <a:blip r:embed="rId4">
            <a:alphaModFix/>
          </a:blip>
          <a:stretch>
            <a:fillRect/>
          </a:stretch>
        </p:blipFill>
        <p:spPr>
          <a:xfrm>
            <a:off x="152400" y="2644690"/>
            <a:ext cx="9601199" cy="36502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8"/>
          <p:cNvSpPr txBox="1"/>
          <p:nvPr/>
        </p:nvSpPr>
        <p:spPr>
          <a:xfrm>
            <a:off x="19050" y="923875"/>
            <a:ext cx="99060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lang="ja-JP" sz="1700">
                <a:latin typeface="Meiryo"/>
                <a:ea typeface="Meiryo"/>
                <a:cs typeface="Meiryo"/>
                <a:sym typeface="Meiryo"/>
              </a:rPr>
              <a:t>Google、Yahooともに獲得がありませんでした。Googleは効率のいい中高一貫に絞りましたが成果にはつながらず、Yahooも獲得が進んでいた優先リストを強化しましたが成果につながりませんでした。夏に向けた訴求が始まるため、中萬学院への予算も配分しつつCV獲得を狙います。</a:t>
            </a:r>
            <a:endParaRPr b="0" i="0" sz="1700" u="none" cap="none" strike="noStrike">
              <a:solidFill>
                <a:srgbClr val="000000"/>
              </a:solidFill>
              <a:latin typeface="Meiryo"/>
              <a:ea typeface="Meiryo"/>
              <a:cs typeface="Meiryo"/>
              <a:sym typeface="Meiryo"/>
            </a:endParaRPr>
          </a:p>
        </p:txBody>
      </p:sp>
      <p:sp>
        <p:nvSpPr>
          <p:cNvPr id="204" name="Google Shape;204;p8"/>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5" name="Google Shape;205;p8"/>
          <p:cNvSpPr txBox="1"/>
          <p:nvPr>
            <p:ph idx="12" type="sldNum"/>
          </p:nvPr>
        </p:nvSpPr>
        <p:spPr>
          <a:xfrm>
            <a:off x="9488464" y="6698636"/>
            <a:ext cx="433088" cy="20148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206" name="Google Shape;206;p8"/>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07" name="Google Shape;207;p8"/>
          <p:cNvGrpSpPr/>
          <p:nvPr/>
        </p:nvGrpSpPr>
        <p:grpSpPr>
          <a:xfrm>
            <a:off x="197301" y="169894"/>
            <a:ext cx="576001" cy="576000"/>
            <a:chOff x="295350" y="259019"/>
            <a:chExt cx="614400" cy="614399"/>
          </a:xfrm>
        </p:grpSpPr>
        <p:sp>
          <p:nvSpPr>
            <p:cNvPr id="208" name="Google Shape;208;p8"/>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09" name="Google Shape;209;p8"/>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210" name="Google Shape;210;p8"/>
          <p:cNvSpPr/>
          <p:nvPr/>
        </p:nvSpPr>
        <p:spPr>
          <a:xfrm>
            <a:off x="69524" y="6116154"/>
            <a:ext cx="85938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chemeClr val="dk1"/>
                </a:solidFill>
                <a:latin typeface="Arial"/>
                <a:ea typeface="Arial"/>
                <a:cs typeface="Arial"/>
                <a:sym typeface="Arial"/>
              </a:rPr>
              <a:t>優先リスト：「flow/merit/form/qa/exp」を含むURLへ訪問3-7日以内のユーザー</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chemeClr val="dk1"/>
                </a:solidFill>
                <a:latin typeface="Arial"/>
                <a:ea typeface="Arial"/>
                <a:cs typeface="Arial"/>
                <a:sym typeface="Arial"/>
              </a:rPr>
              <a:t>除外設定済：24歳以下、65歳以上、神奈川県以外、セッション5以上、CV済ユーザー</a:t>
            </a:r>
            <a:endParaRPr b="0" i="0" sz="1400" u="none" cap="none" strike="noStrike">
              <a:solidFill>
                <a:srgbClr val="000000"/>
              </a:solidFill>
              <a:latin typeface="Arial"/>
              <a:ea typeface="Arial"/>
              <a:cs typeface="Arial"/>
              <a:sym typeface="Arial"/>
            </a:endParaRPr>
          </a:p>
        </p:txBody>
      </p:sp>
      <p:sp>
        <p:nvSpPr>
          <p:cNvPr id="211" name="Google Shape;211;p8"/>
          <p:cNvSpPr txBox="1"/>
          <p:nvPr/>
        </p:nvSpPr>
        <p:spPr>
          <a:xfrm>
            <a:off x="776535" y="173655"/>
            <a:ext cx="8932164"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リマーケティング/ディスプレイその他　グループ別結果(GDN/YDA)</a:t>
            </a:r>
            <a:endParaRPr b="0" i="0" sz="1400" u="none" cap="none" strike="noStrike">
              <a:solidFill>
                <a:srgbClr val="000000"/>
              </a:solidFill>
              <a:latin typeface="Arial"/>
              <a:ea typeface="Arial"/>
              <a:cs typeface="Arial"/>
              <a:sym typeface="Arial"/>
            </a:endParaRPr>
          </a:p>
        </p:txBody>
      </p:sp>
      <p:pic>
        <p:nvPicPr>
          <p:cNvPr id="212" name="Google Shape;212;p8"/>
          <p:cNvPicPr preferRelativeResize="0"/>
          <p:nvPr/>
        </p:nvPicPr>
        <p:blipFill rotWithShape="1">
          <a:blip r:embed="rId4">
            <a:alphaModFix/>
          </a:blip>
          <a:srcRect b="51281" l="0" r="0" t="0"/>
          <a:stretch/>
        </p:blipFill>
        <p:spPr>
          <a:xfrm>
            <a:off x="8847758" y="2251960"/>
            <a:ext cx="857250" cy="584700"/>
          </a:xfrm>
          <a:prstGeom prst="rect">
            <a:avLst/>
          </a:prstGeom>
          <a:noFill/>
          <a:ln>
            <a:noFill/>
          </a:ln>
        </p:spPr>
      </p:pic>
      <p:pic>
        <p:nvPicPr>
          <p:cNvPr id="213" name="Google Shape;213;p8"/>
          <p:cNvPicPr preferRelativeResize="0"/>
          <p:nvPr/>
        </p:nvPicPr>
        <p:blipFill>
          <a:blip r:embed="rId5">
            <a:alphaModFix/>
          </a:blip>
          <a:stretch>
            <a:fillRect/>
          </a:stretch>
        </p:blipFill>
        <p:spPr>
          <a:xfrm>
            <a:off x="152400" y="2476975"/>
            <a:ext cx="6838761" cy="34867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f93b66ce31_0_12"/>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0" name="Google Shape;220;g2f93b66ce31_0_12"/>
          <p:cNvSpPr txBox="1"/>
          <p:nvPr>
            <p:ph idx="12" type="sldNum"/>
          </p:nvPr>
        </p:nvSpPr>
        <p:spPr>
          <a:xfrm>
            <a:off x="9488464" y="6698636"/>
            <a:ext cx="433200" cy="201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ja-JP"/>
              <a:t>‹#›</a:t>
            </a:fld>
            <a:endParaRPr/>
          </a:p>
        </p:txBody>
      </p:sp>
      <p:sp>
        <p:nvSpPr>
          <p:cNvPr id="221" name="Google Shape;221;g2f93b66ce31_0_12"/>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2" name="Google Shape;222;g2f93b66ce31_0_12"/>
          <p:cNvSpPr txBox="1"/>
          <p:nvPr/>
        </p:nvSpPr>
        <p:spPr>
          <a:xfrm>
            <a:off x="19050" y="908720"/>
            <a:ext cx="99060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ja-JP" sz="1700">
                <a:solidFill>
                  <a:schemeClr val="dk1"/>
                </a:solidFill>
                <a:latin typeface="Meiryo"/>
                <a:ea typeface="Meiryo"/>
                <a:cs typeface="Meiryo"/>
                <a:sym typeface="Meiryo"/>
              </a:rPr>
              <a:t>CVはありませんでした。LP別では、スタートした夏期講習LPに流入を集め始めました。クリック単価が安く獲得が進んでいるため、引き続き訴求していきます。中高一貫のLPはクリック率が高いですが、獲得にはつながりませんでした。</a:t>
            </a:r>
            <a:endParaRPr b="0" i="0" sz="1700" u="none" cap="none" strike="noStrike">
              <a:solidFill>
                <a:schemeClr val="dk1"/>
              </a:solidFill>
              <a:latin typeface="Meiryo"/>
              <a:ea typeface="Meiryo"/>
              <a:cs typeface="Meiryo"/>
              <a:sym typeface="Meiryo"/>
            </a:endParaRPr>
          </a:p>
        </p:txBody>
      </p:sp>
      <p:grpSp>
        <p:nvGrpSpPr>
          <p:cNvPr id="223" name="Google Shape;223;g2f93b66ce31_0_12"/>
          <p:cNvGrpSpPr/>
          <p:nvPr/>
        </p:nvGrpSpPr>
        <p:grpSpPr>
          <a:xfrm>
            <a:off x="197301" y="169894"/>
            <a:ext cx="576000" cy="576000"/>
            <a:chOff x="295350" y="259019"/>
            <a:chExt cx="614400" cy="614400"/>
          </a:xfrm>
        </p:grpSpPr>
        <p:sp>
          <p:nvSpPr>
            <p:cNvPr id="224" name="Google Shape;224;g2f93b66ce31_0_12"/>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25" name="Google Shape;225;g2f93b66ce31_0_12"/>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26" name="Google Shape;226;g2f93b66ce31_0_12"/>
          <p:cNvSpPr txBox="1"/>
          <p:nvPr/>
        </p:nvSpPr>
        <p:spPr>
          <a:xfrm>
            <a:off x="776535" y="173655"/>
            <a:ext cx="89322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バナー種類別　詳細結果</a:t>
            </a:r>
            <a:endParaRPr b="0" i="0" sz="1400" u="none" cap="none" strike="noStrike">
              <a:solidFill>
                <a:srgbClr val="000000"/>
              </a:solidFill>
              <a:latin typeface="Arial"/>
              <a:ea typeface="Arial"/>
              <a:cs typeface="Arial"/>
              <a:sym typeface="Arial"/>
            </a:endParaRPr>
          </a:p>
        </p:txBody>
      </p:sp>
      <p:sp>
        <p:nvSpPr>
          <p:cNvPr id="227" name="Google Shape;227;g2f93b66ce31_0_12"/>
          <p:cNvSpPr txBox="1"/>
          <p:nvPr/>
        </p:nvSpPr>
        <p:spPr>
          <a:xfrm>
            <a:off x="192527" y="2206967"/>
            <a:ext cx="4392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広告タイプ別結果</a:t>
            </a:r>
            <a:endParaRPr b="1" i="0" sz="1400" u="sng" cap="none" strike="noStrike">
              <a:solidFill>
                <a:schemeClr val="dk1"/>
              </a:solidFill>
              <a:latin typeface="Arial"/>
              <a:ea typeface="Arial"/>
              <a:cs typeface="Arial"/>
              <a:sym typeface="Arial"/>
            </a:endParaRPr>
          </a:p>
        </p:txBody>
      </p:sp>
      <p:sp>
        <p:nvSpPr>
          <p:cNvPr id="228" name="Google Shape;228;g2f93b66ce31_0_12"/>
          <p:cNvSpPr txBox="1"/>
          <p:nvPr/>
        </p:nvSpPr>
        <p:spPr>
          <a:xfrm>
            <a:off x="7116476" y="2097750"/>
            <a:ext cx="1501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体験学習バナー</a:t>
            </a:r>
            <a:endParaRPr b="1" i="0" sz="1400" u="sng" cap="none" strike="noStrike">
              <a:solidFill>
                <a:schemeClr val="dk1"/>
              </a:solidFill>
              <a:latin typeface="Arial"/>
              <a:ea typeface="Arial"/>
              <a:cs typeface="Arial"/>
              <a:sym typeface="Arial"/>
            </a:endParaRPr>
          </a:p>
        </p:txBody>
      </p:sp>
      <p:sp>
        <p:nvSpPr>
          <p:cNvPr id="229" name="Google Shape;229;g2f93b66ce31_0_12"/>
          <p:cNvSpPr txBox="1"/>
          <p:nvPr/>
        </p:nvSpPr>
        <p:spPr>
          <a:xfrm>
            <a:off x="8064665" y="4475149"/>
            <a:ext cx="1423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公立中高一貫</a:t>
            </a:r>
            <a:endParaRPr b="1" i="0" sz="1400" u="sng" cap="none" strike="noStrike">
              <a:solidFill>
                <a:schemeClr val="dk1"/>
              </a:solidFill>
              <a:latin typeface="Arial"/>
              <a:ea typeface="Arial"/>
              <a:cs typeface="Arial"/>
              <a:sym typeface="Arial"/>
            </a:endParaRPr>
          </a:p>
        </p:txBody>
      </p:sp>
      <p:sp>
        <p:nvSpPr>
          <p:cNvPr id="230" name="Google Shape;230;g2f93b66ce31_0_12"/>
          <p:cNvSpPr txBox="1"/>
          <p:nvPr/>
        </p:nvSpPr>
        <p:spPr>
          <a:xfrm>
            <a:off x="254102" y="4515130"/>
            <a:ext cx="4392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ja-JP" sz="1400" u="sng" cap="none" strike="noStrike">
                <a:solidFill>
                  <a:schemeClr val="dk1"/>
                </a:solidFill>
                <a:latin typeface="Arial"/>
                <a:ea typeface="Arial"/>
                <a:cs typeface="Arial"/>
                <a:sym typeface="Arial"/>
              </a:rPr>
              <a:t>流入先別結果</a:t>
            </a:r>
            <a:endParaRPr b="1" i="0" sz="1400" u="sng" cap="none" strike="noStrike">
              <a:solidFill>
                <a:schemeClr val="dk1"/>
              </a:solidFill>
              <a:latin typeface="Arial"/>
              <a:ea typeface="Arial"/>
              <a:cs typeface="Arial"/>
              <a:sym typeface="Arial"/>
            </a:endParaRPr>
          </a:p>
        </p:txBody>
      </p:sp>
      <p:pic>
        <p:nvPicPr>
          <p:cNvPr id="231" name="Google Shape;231;g2f93b66ce31_0_12"/>
          <p:cNvPicPr preferRelativeResize="0"/>
          <p:nvPr/>
        </p:nvPicPr>
        <p:blipFill rotWithShape="1">
          <a:blip r:embed="rId4">
            <a:alphaModFix/>
          </a:blip>
          <a:srcRect b="0" l="0" r="0" t="0"/>
          <a:stretch/>
        </p:blipFill>
        <p:spPr>
          <a:xfrm>
            <a:off x="7037163" y="2539900"/>
            <a:ext cx="1660425" cy="1383684"/>
          </a:xfrm>
          <a:prstGeom prst="rect">
            <a:avLst/>
          </a:prstGeom>
          <a:noFill/>
          <a:ln>
            <a:noFill/>
          </a:ln>
        </p:spPr>
      </p:pic>
      <p:pic>
        <p:nvPicPr>
          <p:cNvPr id="232" name="Google Shape;232;g2f93b66ce31_0_12" title="ae147ba8f7b0096c1ba429ae8a2633e6.jpg"/>
          <p:cNvPicPr preferRelativeResize="0"/>
          <p:nvPr/>
        </p:nvPicPr>
        <p:blipFill rotWithShape="1">
          <a:blip r:embed="rId5">
            <a:alphaModFix/>
          </a:blip>
          <a:srcRect b="0" l="0" r="0" t="0"/>
          <a:stretch/>
        </p:blipFill>
        <p:spPr>
          <a:xfrm>
            <a:off x="7946363" y="4787588"/>
            <a:ext cx="1660425" cy="1383688"/>
          </a:xfrm>
          <a:prstGeom prst="rect">
            <a:avLst/>
          </a:prstGeom>
          <a:noFill/>
          <a:ln>
            <a:noFill/>
          </a:ln>
        </p:spPr>
      </p:pic>
      <p:pic>
        <p:nvPicPr>
          <p:cNvPr id="233" name="Google Shape;233;g2f93b66ce31_0_12"/>
          <p:cNvPicPr preferRelativeResize="0"/>
          <p:nvPr/>
        </p:nvPicPr>
        <p:blipFill>
          <a:blip r:embed="rId6">
            <a:alphaModFix/>
          </a:blip>
          <a:stretch>
            <a:fillRect/>
          </a:stretch>
        </p:blipFill>
        <p:spPr>
          <a:xfrm>
            <a:off x="197299" y="2539902"/>
            <a:ext cx="6423075" cy="1305400"/>
          </a:xfrm>
          <a:prstGeom prst="rect">
            <a:avLst/>
          </a:prstGeom>
          <a:noFill/>
          <a:ln>
            <a:noFill/>
          </a:ln>
        </p:spPr>
      </p:pic>
      <p:sp>
        <p:nvSpPr>
          <p:cNvPr id="234" name="Google Shape;234;g2f93b66ce31_0_12"/>
          <p:cNvSpPr txBox="1"/>
          <p:nvPr/>
        </p:nvSpPr>
        <p:spPr>
          <a:xfrm>
            <a:off x="144550" y="3518299"/>
            <a:ext cx="7635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ja-JP" sz="900" u="none" cap="none" strike="noStrike">
                <a:solidFill>
                  <a:srgbClr val="000000"/>
                </a:solidFill>
                <a:highlight>
                  <a:srgbClr val="F7F7F7"/>
                </a:highlight>
                <a:latin typeface="Meiryo"/>
                <a:ea typeface="Meiryo"/>
                <a:cs typeface="Meiryo"/>
                <a:sym typeface="Meiryo"/>
              </a:rPr>
              <a:t>DG広告</a:t>
            </a:r>
            <a:endParaRPr b="1" i="0" sz="900" u="none" cap="none" strike="noStrike">
              <a:solidFill>
                <a:srgbClr val="000000"/>
              </a:solidFill>
              <a:highlight>
                <a:srgbClr val="F7F7F7"/>
              </a:highlight>
              <a:latin typeface="Meiryo"/>
              <a:ea typeface="Meiryo"/>
              <a:cs typeface="Meiryo"/>
              <a:sym typeface="Meiryo"/>
            </a:endParaRPr>
          </a:p>
        </p:txBody>
      </p:sp>
      <p:pic>
        <p:nvPicPr>
          <p:cNvPr id="235" name="Google Shape;235;g2f93b66ce31_0_12"/>
          <p:cNvPicPr preferRelativeResize="0"/>
          <p:nvPr/>
        </p:nvPicPr>
        <p:blipFill>
          <a:blip r:embed="rId7">
            <a:alphaModFix/>
          </a:blip>
          <a:stretch>
            <a:fillRect/>
          </a:stretch>
        </p:blipFill>
        <p:spPr>
          <a:xfrm>
            <a:off x="192525" y="4822924"/>
            <a:ext cx="7535975" cy="1213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e331d7859d_0_0"/>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2" name="Google Shape;242;g2e331d7859d_0_0"/>
          <p:cNvSpPr txBox="1"/>
          <p:nvPr>
            <p:ph idx="12" type="sldNum"/>
          </p:nvPr>
        </p:nvSpPr>
        <p:spPr>
          <a:xfrm>
            <a:off x="9488464" y="6698636"/>
            <a:ext cx="433200" cy="201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243" name="Google Shape;243;g2e331d7859d_0_0"/>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4" name="Google Shape;244;g2e331d7859d_0_0"/>
          <p:cNvSpPr txBox="1"/>
          <p:nvPr/>
        </p:nvSpPr>
        <p:spPr>
          <a:xfrm>
            <a:off x="0" y="939020"/>
            <a:ext cx="99060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chemeClr val="dk1"/>
                </a:solidFill>
                <a:latin typeface="Meiryo"/>
                <a:ea typeface="Meiryo"/>
                <a:cs typeface="Meiryo"/>
                <a:sym typeface="Meiryo"/>
              </a:rPr>
              <a:t>P-MAXからCV獲得は</a:t>
            </a:r>
            <a:r>
              <a:rPr lang="ja-JP" sz="1700">
                <a:solidFill>
                  <a:schemeClr val="dk1"/>
                </a:solidFill>
                <a:latin typeface="Meiryo"/>
                <a:ea typeface="Meiryo"/>
                <a:cs typeface="Meiryo"/>
                <a:sym typeface="Meiryo"/>
              </a:rPr>
              <a:t>21</a:t>
            </a:r>
            <a:r>
              <a:rPr b="0" i="0" lang="ja-JP" sz="1700" u="none" cap="none" strike="noStrike">
                <a:solidFill>
                  <a:schemeClr val="dk1"/>
                </a:solidFill>
                <a:latin typeface="Meiryo"/>
                <a:ea typeface="Meiryo"/>
                <a:cs typeface="Meiryo"/>
                <a:sym typeface="Meiryo"/>
              </a:rPr>
              <a:t>件、CPAは</a:t>
            </a:r>
            <a:r>
              <a:rPr lang="ja-JP" sz="1700">
                <a:solidFill>
                  <a:schemeClr val="dk1"/>
                </a:solidFill>
                <a:latin typeface="Meiryo"/>
                <a:ea typeface="Meiryo"/>
                <a:cs typeface="Meiryo"/>
                <a:sym typeface="Meiryo"/>
              </a:rPr>
              <a:t>9</a:t>
            </a:r>
            <a:r>
              <a:rPr b="0" i="0" lang="ja-JP" sz="1700" u="none" cap="none" strike="noStrike">
                <a:solidFill>
                  <a:schemeClr val="dk1"/>
                </a:solidFill>
                <a:latin typeface="Meiryo"/>
                <a:ea typeface="Meiryo"/>
                <a:cs typeface="Meiryo"/>
                <a:sym typeface="Meiryo"/>
              </a:rPr>
              <a:t>,</a:t>
            </a:r>
            <a:r>
              <a:rPr lang="ja-JP" sz="1700">
                <a:solidFill>
                  <a:schemeClr val="dk1"/>
                </a:solidFill>
                <a:latin typeface="Meiryo"/>
                <a:ea typeface="Meiryo"/>
                <a:cs typeface="Meiryo"/>
                <a:sym typeface="Meiryo"/>
              </a:rPr>
              <a:t>023</a:t>
            </a:r>
            <a:r>
              <a:rPr b="0" i="0" lang="ja-JP" sz="1700" u="none" cap="none" strike="noStrike">
                <a:solidFill>
                  <a:schemeClr val="dk1"/>
                </a:solidFill>
                <a:latin typeface="Meiryo"/>
                <a:ea typeface="Meiryo"/>
                <a:cs typeface="Meiryo"/>
                <a:sym typeface="Meiryo"/>
              </a:rPr>
              <a:t>円でした。</a:t>
            </a:r>
            <a:r>
              <a:rPr lang="ja-JP" sz="1700">
                <a:solidFill>
                  <a:schemeClr val="dk1"/>
                </a:solidFill>
                <a:latin typeface="Meiryo"/>
                <a:ea typeface="Meiryo"/>
                <a:cs typeface="Meiryo"/>
                <a:sym typeface="Meiryo"/>
              </a:rPr>
              <a:t>12</a:t>
            </a:r>
            <a:r>
              <a:rPr b="0" i="0" lang="ja-JP" sz="1700" u="none" cap="none" strike="noStrike">
                <a:solidFill>
                  <a:schemeClr val="dk1"/>
                </a:solidFill>
                <a:latin typeface="Meiryo"/>
                <a:ea typeface="Meiryo"/>
                <a:cs typeface="Meiryo"/>
                <a:sym typeface="Meiryo"/>
              </a:rPr>
              <a:t>件はGoogle指名検索の取りこぼしをP-MAXでカバーしています。</a:t>
            </a:r>
            <a:r>
              <a:rPr lang="ja-JP" sz="1700">
                <a:solidFill>
                  <a:schemeClr val="dk1"/>
                </a:solidFill>
                <a:latin typeface="Meiryo"/>
                <a:ea typeface="Meiryo"/>
                <a:cs typeface="Meiryo"/>
                <a:sym typeface="Meiryo"/>
              </a:rPr>
              <a:t>指名比率が下がっており、傾向としては良好ですが指名のCVR減少も見られます</a:t>
            </a:r>
            <a:r>
              <a:rPr b="0" i="0" lang="ja-JP" sz="1700" u="none" cap="none" strike="noStrike">
                <a:solidFill>
                  <a:schemeClr val="dk1"/>
                </a:solidFill>
                <a:latin typeface="Meiryo"/>
                <a:ea typeface="Meiryo"/>
                <a:cs typeface="Meiryo"/>
                <a:sym typeface="Meiryo"/>
              </a:rPr>
              <a:t>。</a:t>
            </a:r>
            <a:endParaRPr b="0" i="0" sz="1700" u="none" cap="none" strike="noStrike">
              <a:solidFill>
                <a:schemeClr val="dk1"/>
              </a:solidFill>
              <a:latin typeface="Meiryo"/>
              <a:ea typeface="Meiryo"/>
              <a:cs typeface="Meiryo"/>
              <a:sym typeface="Meiryo"/>
            </a:endParaRPr>
          </a:p>
        </p:txBody>
      </p:sp>
      <p:grpSp>
        <p:nvGrpSpPr>
          <p:cNvPr id="245" name="Google Shape;245;g2e331d7859d_0_0"/>
          <p:cNvGrpSpPr/>
          <p:nvPr/>
        </p:nvGrpSpPr>
        <p:grpSpPr>
          <a:xfrm>
            <a:off x="197301" y="169894"/>
            <a:ext cx="576000" cy="576000"/>
            <a:chOff x="295350" y="259019"/>
            <a:chExt cx="614400" cy="614400"/>
          </a:xfrm>
        </p:grpSpPr>
        <p:sp>
          <p:nvSpPr>
            <p:cNvPr id="246" name="Google Shape;246;g2e331d7859d_0_0"/>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47" name="Google Shape;247;g2e331d7859d_0_0"/>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48" name="Google Shape;248;g2e331d7859d_0_0"/>
          <p:cNvSpPr txBox="1"/>
          <p:nvPr/>
        </p:nvSpPr>
        <p:spPr>
          <a:xfrm>
            <a:off x="776535" y="173655"/>
            <a:ext cx="89322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P-MAX 配信結果　</a:t>
            </a:r>
            <a:endParaRPr b="0" i="0" sz="1400" u="none" cap="none" strike="noStrike">
              <a:solidFill>
                <a:srgbClr val="000000"/>
              </a:solidFill>
              <a:latin typeface="Arial"/>
              <a:ea typeface="Arial"/>
              <a:cs typeface="Arial"/>
              <a:sym typeface="Arial"/>
            </a:endParaRPr>
          </a:p>
        </p:txBody>
      </p:sp>
      <p:pic>
        <p:nvPicPr>
          <p:cNvPr id="249" name="Google Shape;249;g2e331d7859d_0_0"/>
          <p:cNvPicPr preferRelativeResize="0"/>
          <p:nvPr/>
        </p:nvPicPr>
        <p:blipFill rotWithShape="1">
          <a:blip r:embed="rId4">
            <a:alphaModFix/>
          </a:blip>
          <a:srcRect b="0" l="0" r="0" t="0"/>
          <a:stretch/>
        </p:blipFill>
        <p:spPr>
          <a:xfrm>
            <a:off x="457452" y="3066102"/>
            <a:ext cx="1884100" cy="3048126"/>
          </a:xfrm>
          <a:prstGeom prst="rect">
            <a:avLst/>
          </a:prstGeom>
          <a:noFill/>
          <a:ln>
            <a:noFill/>
          </a:ln>
        </p:spPr>
      </p:pic>
      <p:pic>
        <p:nvPicPr>
          <p:cNvPr id="250" name="Google Shape;250;g2e331d7859d_0_0"/>
          <p:cNvPicPr preferRelativeResize="0"/>
          <p:nvPr/>
        </p:nvPicPr>
        <p:blipFill rotWithShape="1">
          <a:blip r:embed="rId5">
            <a:alphaModFix/>
          </a:blip>
          <a:srcRect b="0" l="0" r="0" t="0"/>
          <a:stretch/>
        </p:blipFill>
        <p:spPr>
          <a:xfrm>
            <a:off x="4953000" y="3099725"/>
            <a:ext cx="1884100" cy="2980874"/>
          </a:xfrm>
          <a:prstGeom prst="rect">
            <a:avLst/>
          </a:prstGeom>
          <a:noFill/>
          <a:ln>
            <a:noFill/>
          </a:ln>
        </p:spPr>
      </p:pic>
      <p:sp>
        <p:nvSpPr>
          <p:cNvPr id="251" name="Google Shape;251;g2e331d7859d_0_0"/>
          <p:cNvSpPr txBox="1"/>
          <p:nvPr/>
        </p:nvSpPr>
        <p:spPr>
          <a:xfrm>
            <a:off x="388950" y="2712175"/>
            <a:ext cx="2021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ja-JP" sz="1400" u="sng" cap="none" strike="noStrike">
                <a:solidFill>
                  <a:schemeClr val="dk1"/>
                </a:solidFill>
                <a:latin typeface="Calibri"/>
                <a:ea typeface="Calibri"/>
                <a:cs typeface="Calibri"/>
                <a:sym typeface="Calibri"/>
              </a:rPr>
              <a:t>広告フォーマットの例</a:t>
            </a:r>
            <a:endParaRPr b="1" i="0" sz="1400" u="sng" cap="none" strike="noStrike">
              <a:solidFill>
                <a:schemeClr val="dk1"/>
              </a:solidFill>
              <a:latin typeface="Calibri"/>
              <a:ea typeface="Calibri"/>
              <a:cs typeface="Calibri"/>
              <a:sym typeface="Calibri"/>
            </a:endParaRPr>
          </a:p>
        </p:txBody>
      </p:sp>
      <p:pic>
        <p:nvPicPr>
          <p:cNvPr id="252" name="Google Shape;252;g2e331d7859d_0_0"/>
          <p:cNvPicPr preferRelativeResize="0"/>
          <p:nvPr/>
        </p:nvPicPr>
        <p:blipFill rotWithShape="1">
          <a:blip r:embed="rId6">
            <a:alphaModFix/>
          </a:blip>
          <a:srcRect b="0" l="0" r="0" t="0"/>
          <a:stretch/>
        </p:blipFill>
        <p:spPr>
          <a:xfrm>
            <a:off x="2652421" y="3066100"/>
            <a:ext cx="1989704" cy="3239876"/>
          </a:xfrm>
          <a:prstGeom prst="rect">
            <a:avLst/>
          </a:prstGeom>
          <a:noFill/>
          <a:ln>
            <a:noFill/>
          </a:ln>
        </p:spPr>
      </p:pic>
      <p:pic>
        <p:nvPicPr>
          <p:cNvPr id="253" name="Google Shape;253;g2e331d7859d_0_0"/>
          <p:cNvPicPr preferRelativeResize="0"/>
          <p:nvPr/>
        </p:nvPicPr>
        <p:blipFill rotWithShape="1">
          <a:blip r:embed="rId7">
            <a:alphaModFix/>
          </a:blip>
          <a:srcRect b="0" l="0" r="0" t="0"/>
          <a:stretch/>
        </p:blipFill>
        <p:spPr>
          <a:xfrm>
            <a:off x="7107951" y="3085625"/>
            <a:ext cx="1884100" cy="2943891"/>
          </a:xfrm>
          <a:prstGeom prst="rect">
            <a:avLst/>
          </a:prstGeom>
          <a:noFill/>
          <a:ln>
            <a:noFill/>
          </a:ln>
        </p:spPr>
      </p:pic>
      <p:pic>
        <p:nvPicPr>
          <p:cNvPr id="254" name="Google Shape;254;g2e331d7859d_0_0"/>
          <p:cNvPicPr preferRelativeResize="0"/>
          <p:nvPr/>
        </p:nvPicPr>
        <p:blipFill>
          <a:blip r:embed="rId8">
            <a:alphaModFix/>
          </a:blip>
          <a:stretch>
            <a:fillRect/>
          </a:stretch>
        </p:blipFill>
        <p:spPr>
          <a:xfrm>
            <a:off x="152400" y="2030833"/>
            <a:ext cx="9525000" cy="466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9"/>
          <p:cNvSpPr/>
          <p:nvPr/>
        </p:nvSpPr>
        <p:spPr>
          <a:xfrm>
            <a:off x="0" y="6698636"/>
            <a:ext cx="9906000" cy="166328"/>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1" name="Google Shape;261;p9"/>
          <p:cNvSpPr txBox="1"/>
          <p:nvPr>
            <p:ph idx="12" type="sldNum"/>
          </p:nvPr>
        </p:nvSpPr>
        <p:spPr>
          <a:xfrm>
            <a:off x="9488464" y="6698636"/>
            <a:ext cx="433088" cy="20148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ja-JP">
                <a:solidFill>
                  <a:schemeClr val="lt1"/>
                </a:solidFill>
                <a:latin typeface="Arial"/>
                <a:ea typeface="Arial"/>
                <a:cs typeface="Arial"/>
                <a:sym typeface="Arial"/>
              </a:rPr>
              <a:t>‹#›</a:t>
            </a:fld>
            <a:endParaRPr b="1">
              <a:solidFill>
                <a:schemeClr val="lt1"/>
              </a:solidFill>
              <a:latin typeface="Arial"/>
              <a:ea typeface="Arial"/>
              <a:cs typeface="Arial"/>
              <a:sym typeface="Arial"/>
            </a:endParaRPr>
          </a:p>
        </p:txBody>
      </p:sp>
      <p:sp>
        <p:nvSpPr>
          <p:cNvPr id="262" name="Google Shape;262;p9"/>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3" name="Google Shape;263;p9"/>
          <p:cNvSpPr txBox="1"/>
          <p:nvPr/>
        </p:nvSpPr>
        <p:spPr>
          <a:xfrm>
            <a:off x="19050" y="908720"/>
            <a:ext cx="99060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chemeClr val="dk1"/>
                </a:solidFill>
                <a:latin typeface="Meiryo"/>
                <a:ea typeface="Meiryo"/>
                <a:cs typeface="Meiryo"/>
                <a:sym typeface="Meiryo"/>
              </a:rPr>
              <a:t>CPCは4円と、引き続き低単価で配信されました。CVはありませんでした。</a:t>
            </a:r>
            <a:endParaRPr b="0" i="0" sz="17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chemeClr val="dk1"/>
                </a:solidFill>
                <a:latin typeface="Meiryo"/>
                <a:ea typeface="Meiryo"/>
                <a:cs typeface="Meiryo"/>
                <a:sym typeface="Meiryo"/>
              </a:rPr>
              <a:t>教室ごとになるべく偏りが出ないよう予算を調整しています。</a:t>
            </a:r>
            <a:endParaRPr b="0" i="0" sz="1700" u="none" cap="none" strike="noStrike">
              <a:solidFill>
                <a:schemeClr val="dk1"/>
              </a:solidFill>
              <a:latin typeface="Meiryo"/>
              <a:ea typeface="Meiryo"/>
              <a:cs typeface="Meiryo"/>
              <a:sym typeface="Meiryo"/>
            </a:endParaRPr>
          </a:p>
        </p:txBody>
      </p:sp>
      <p:grpSp>
        <p:nvGrpSpPr>
          <p:cNvPr id="264" name="Google Shape;264;p9"/>
          <p:cNvGrpSpPr/>
          <p:nvPr/>
        </p:nvGrpSpPr>
        <p:grpSpPr>
          <a:xfrm>
            <a:off x="197301" y="169894"/>
            <a:ext cx="576001" cy="576000"/>
            <a:chOff x="295350" y="259019"/>
            <a:chExt cx="614400" cy="614399"/>
          </a:xfrm>
        </p:grpSpPr>
        <p:sp>
          <p:nvSpPr>
            <p:cNvPr id="265" name="Google Shape;265;p9"/>
            <p:cNvSpPr/>
            <p:nvPr/>
          </p:nvSpPr>
          <p:spPr>
            <a:xfrm>
              <a:off x="295350" y="259019"/>
              <a:ext cx="614400" cy="614399"/>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66" name="Google Shape;266;p9"/>
            <p:cNvPicPr preferRelativeResize="0"/>
            <p:nvPr/>
          </p:nvPicPr>
          <p:blipFill rotWithShape="1">
            <a:blip r:embed="rId3">
              <a:alphaModFix/>
            </a:blip>
            <a:srcRect b="0" l="0" r="0" t="0"/>
            <a:stretch/>
          </p:blipFill>
          <p:spPr>
            <a:xfrm flipH="1">
              <a:off x="583974" y="259025"/>
              <a:ext cx="320375" cy="610050"/>
            </a:xfrm>
            <a:prstGeom prst="rect">
              <a:avLst/>
            </a:prstGeom>
            <a:noFill/>
            <a:ln>
              <a:noFill/>
            </a:ln>
          </p:spPr>
        </p:pic>
      </p:grpSp>
      <p:sp>
        <p:nvSpPr>
          <p:cNvPr id="267" name="Google Shape;267;p9"/>
          <p:cNvSpPr txBox="1"/>
          <p:nvPr/>
        </p:nvSpPr>
        <p:spPr>
          <a:xfrm>
            <a:off x="776535" y="173655"/>
            <a:ext cx="8932164" cy="50452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教室ページ流入特別施策結果　</a:t>
            </a:r>
            <a:endParaRPr b="0" i="0" sz="1400" u="none" cap="none" strike="noStrike">
              <a:solidFill>
                <a:srgbClr val="000000"/>
              </a:solidFill>
              <a:latin typeface="Arial"/>
              <a:ea typeface="Arial"/>
              <a:cs typeface="Arial"/>
              <a:sym typeface="Arial"/>
            </a:endParaRPr>
          </a:p>
        </p:txBody>
      </p:sp>
      <p:pic>
        <p:nvPicPr>
          <p:cNvPr id="268" name="Google Shape;268;p9"/>
          <p:cNvPicPr preferRelativeResize="0"/>
          <p:nvPr/>
        </p:nvPicPr>
        <p:blipFill>
          <a:blip r:embed="rId4">
            <a:alphaModFix/>
          </a:blip>
          <a:stretch>
            <a:fillRect/>
          </a:stretch>
        </p:blipFill>
        <p:spPr>
          <a:xfrm>
            <a:off x="152400" y="1676720"/>
            <a:ext cx="8638576" cy="48695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7fba19d031_0_30"/>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4" name="Google Shape;274;g27fba19d031_0_30"/>
          <p:cNvSpPr txBox="1"/>
          <p:nvPr/>
        </p:nvSpPr>
        <p:spPr>
          <a:xfrm>
            <a:off x="7677150" y="6619225"/>
            <a:ext cx="2229000" cy="31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3F3F3"/>
              </a:buClr>
              <a:buSzPts val="1400"/>
              <a:buFont typeface="Arial"/>
              <a:buNone/>
            </a:pPr>
            <a:fld id="{00000000-1234-1234-1234-123412341234}" type="slidenum">
              <a:rPr b="0" i="0" lang="ja-JP" sz="1400" u="none" cap="none" strike="noStrike">
                <a:solidFill>
                  <a:srgbClr val="F3F3F3"/>
                </a:solidFill>
                <a:latin typeface="Arial"/>
                <a:ea typeface="Arial"/>
                <a:cs typeface="Arial"/>
                <a:sym typeface="Arial"/>
              </a:rPr>
              <a:t>‹#›</a:t>
            </a:fld>
            <a:endParaRPr b="0" i="0" sz="1400" u="none" cap="none" strike="noStrike">
              <a:solidFill>
                <a:srgbClr val="F3F3F3"/>
              </a:solidFill>
              <a:latin typeface="Arial"/>
              <a:ea typeface="Arial"/>
              <a:cs typeface="Arial"/>
              <a:sym typeface="Arial"/>
            </a:endParaRPr>
          </a:p>
        </p:txBody>
      </p:sp>
      <p:sp>
        <p:nvSpPr>
          <p:cNvPr id="275" name="Google Shape;275;g27fba19d031_0_30"/>
          <p:cNvSpPr txBox="1"/>
          <p:nvPr/>
        </p:nvSpPr>
        <p:spPr>
          <a:xfrm>
            <a:off x="776535" y="173655"/>
            <a:ext cx="84969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Meta配信結果</a:t>
            </a:r>
            <a:endParaRPr b="1" i="0" sz="2400" u="none" cap="none" strike="noStrike">
              <a:solidFill>
                <a:srgbClr val="002060"/>
              </a:solidFill>
              <a:latin typeface="Arial"/>
              <a:ea typeface="Arial"/>
              <a:cs typeface="Arial"/>
              <a:sym typeface="Arial"/>
            </a:endParaRPr>
          </a:p>
        </p:txBody>
      </p:sp>
      <p:grpSp>
        <p:nvGrpSpPr>
          <p:cNvPr id="276" name="Google Shape;276;g27fba19d031_0_30"/>
          <p:cNvGrpSpPr/>
          <p:nvPr/>
        </p:nvGrpSpPr>
        <p:grpSpPr>
          <a:xfrm>
            <a:off x="197301" y="169894"/>
            <a:ext cx="576000" cy="576000"/>
            <a:chOff x="295350" y="259019"/>
            <a:chExt cx="614400" cy="614400"/>
          </a:xfrm>
        </p:grpSpPr>
        <p:sp>
          <p:nvSpPr>
            <p:cNvPr id="277" name="Google Shape;277;g27fba19d031_0_30"/>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78" name="Google Shape;278;g27fba19d031_0_30"/>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79" name="Google Shape;279;g27fba19d031_0_30"/>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g27fba19d031_0_30"/>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g27fba19d031_0_30"/>
          <p:cNvSpPr txBox="1"/>
          <p:nvPr/>
        </p:nvSpPr>
        <p:spPr>
          <a:xfrm>
            <a:off x="237325" y="2015113"/>
            <a:ext cx="1910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ja-JP" sz="1700" u="sng" cap="none" strike="noStrike">
                <a:solidFill>
                  <a:schemeClr val="dk1"/>
                </a:solidFill>
                <a:latin typeface="Calibri"/>
                <a:ea typeface="Calibri"/>
                <a:cs typeface="Calibri"/>
                <a:sym typeface="Calibri"/>
              </a:rPr>
              <a:t>英検</a:t>
            </a:r>
            <a:endParaRPr b="1" i="0" sz="1700" u="sng" cap="none" strike="noStrike">
              <a:solidFill>
                <a:schemeClr val="dk1"/>
              </a:solidFill>
              <a:latin typeface="Calibri"/>
              <a:ea typeface="Calibri"/>
              <a:cs typeface="Calibri"/>
              <a:sym typeface="Calibri"/>
            </a:endParaRPr>
          </a:p>
        </p:txBody>
      </p:sp>
      <p:sp>
        <p:nvSpPr>
          <p:cNvPr id="282" name="Google Shape;282;g27fba19d031_0_30"/>
          <p:cNvSpPr txBox="1"/>
          <p:nvPr/>
        </p:nvSpPr>
        <p:spPr>
          <a:xfrm>
            <a:off x="128475" y="890725"/>
            <a:ext cx="97776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rgbClr val="000000"/>
                </a:solidFill>
                <a:latin typeface="Meiryo"/>
                <a:ea typeface="Meiryo"/>
                <a:cs typeface="Meiryo"/>
                <a:sym typeface="Meiryo"/>
              </a:rPr>
              <a:t>英検バナーでは、「英検に強い」</a:t>
            </a:r>
            <a:r>
              <a:rPr lang="ja-JP" sz="1700">
                <a:latin typeface="Meiryo"/>
                <a:ea typeface="Meiryo"/>
                <a:cs typeface="Meiryo"/>
                <a:sym typeface="Meiryo"/>
              </a:rPr>
              <a:t>ピンク</a:t>
            </a:r>
            <a:r>
              <a:rPr b="0" i="0" lang="ja-JP" sz="1700" u="none" cap="none" strike="noStrike">
                <a:solidFill>
                  <a:srgbClr val="000000"/>
                </a:solidFill>
                <a:latin typeface="Meiryo"/>
                <a:ea typeface="Meiryo"/>
                <a:cs typeface="Meiryo"/>
                <a:sym typeface="Meiryo"/>
              </a:rPr>
              <a:t>から</a:t>
            </a:r>
            <a:r>
              <a:rPr lang="ja-JP" sz="1700">
                <a:latin typeface="Meiryo"/>
                <a:ea typeface="Meiryo"/>
                <a:cs typeface="Meiryo"/>
                <a:sym typeface="Meiryo"/>
              </a:rPr>
              <a:t>2</a:t>
            </a:r>
            <a:r>
              <a:rPr b="0" i="0" lang="ja-JP" sz="1700" u="none" cap="none" strike="noStrike">
                <a:solidFill>
                  <a:srgbClr val="000000"/>
                </a:solidFill>
                <a:latin typeface="Meiryo"/>
                <a:ea typeface="Meiryo"/>
                <a:cs typeface="Meiryo"/>
                <a:sym typeface="Meiryo"/>
              </a:rPr>
              <a:t>件、「2,228名合格」から</a:t>
            </a:r>
            <a:r>
              <a:rPr lang="ja-JP" sz="1700">
                <a:latin typeface="Meiryo"/>
                <a:ea typeface="Meiryo"/>
                <a:cs typeface="Meiryo"/>
                <a:sym typeface="Meiryo"/>
              </a:rPr>
              <a:t>3</a:t>
            </a:r>
            <a:r>
              <a:rPr b="0" i="0" lang="ja-JP" sz="1700" u="none" cap="none" strike="noStrike">
                <a:solidFill>
                  <a:srgbClr val="000000"/>
                </a:solidFill>
                <a:latin typeface="Meiryo"/>
                <a:ea typeface="Meiryo"/>
                <a:cs typeface="Meiryo"/>
                <a:sym typeface="Meiryo"/>
              </a:rPr>
              <a:t>件、「英検対策」ピンクから1件、</a:t>
            </a:r>
            <a:r>
              <a:rPr lang="ja-JP" sz="1700">
                <a:latin typeface="Meiryo"/>
                <a:ea typeface="Meiryo"/>
                <a:cs typeface="Meiryo"/>
                <a:sym typeface="Meiryo"/>
              </a:rPr>
              <a:t>「プレテスト」</a:t>
            </a:r>
            <a:r>
              <a:rPr b="0" i="0" lang="ja-JP" sz="1700" u="none" cap="none" strike="noStrike">
                <a:solidFill>
                  <a:srgbClr val="000000"/>
                </a:solidFill>
                <a:latin typeface="Meiryo"/>
                <a:ea typeface="Meiryo"/>
                <a:cs typeface="Meiryo"/>
                <a:sym typeface="Meiryo"/>
              </a:rPr>
              <a:t>黄色から3件の獲得になりました。</a:t>
            </a:r>
            <a:endParaRPr b="0" i="0" sz="17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rgbClr val="000000"/>
                </a:solidFill>
                <a:latin typeface="Meiryo"/>
                <a:ea typeface="Meiryo"/>
                <a:cs typeface="Meiryo"/>
                <a:sym typeface="Meiryo"/>
              </a:rPr>
              <a:t>MetaでのCPAは¥</a:t>
            </a:r>
            <a:r>
              <a:rPr lang="ja-JP" sz="1700">
                <a:latin typeface="Meiryo"/>
                <a:ea typeface="Meiryo"/>
                <a:cs typeface="Meiryo"/>
                <a:sym typeface="Meiryo"/>
              </a:rPr>
              <a:t>5,497</a:t>
            </a:r>
            <a:r>
              <a:rPr b="0" i="0" lang="ja-JP" sz="1700" u="none" cap="none" strike="noStrike">
                <a:solidFill>
                  <a:srgbClr val="000000"/>
                </a:solidFill>
                <a:latin typeface="Meiryo"/>
                <a:ea typeface="Meiryo"/>
                <a:cs typeface="Meiryo"/>
                <a:sym typeface="Meiryo"/>
              </a:rPr>
              <a:t>です。好調でした。</a:t>
            </a:r>
            <a:endParaRPr b="0" i="0" sz="1700" u="none" cap="none" strike="noStrike">
              <a:solidFill>
                <a:srgbClr val="000000"/>
              </a:solidFill>
              <a:latin typeface="Meiryo"/>
              <a:ea typeface="Meiryo"/>
              <a:cs typeface="Meiryo"/>
              <a:sym typeface="Meiryo"/>
            </a:endParaRPr>
          </a:p>
        </p:txBody>
      </p:sp>
      <p:pic>
        <p:nvPicPr>
          <p:cNvPr id="283" name="Google Shape;283;g27fba19d031_0_30"/>
          <p:cNvPicPr preferRelativeResize="0"/>
          <p:nvPr/>
        </p:nvPicPr>
        <p:blipFill>
          <a:blip r:embed="rId4">
            <a:alphaModFix/>
          </a:blip>
          <a:stretch>
            <a:fillRect/>
          </a:stretch>
        </p:blipFill>
        <p:spPr>
          <a:xfrm>
            <a:off x="197300" y="2461526"/>
            <a:ext cx="8187402" cy="40787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4826ca313d_2_16"/>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9" name="Google Shape;289;g34826ca313d_2_16"/>
          <p:cNvSpPr txBox="1"/>
          <p:nvPr/>
        </p:nvSpPr>
        <p:spPr>
          <a:xfrm>
            <a:off x="7677150" y="6619225"/>
            <a:ext cx="2229000" cy="31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3F3F3"/>
              </a:buClr>
              <a:buSzPts val="1400"/>
              <a:buFont typeface="Arial"/>
              <a:buNone/>
            </a:pPr>
            <a:fld id="{00000000-1234-1234-1234-123412341234}" type="slidenum">
              <a:rPr b="0" i="0" lang="ja-JP" sz="1400" u="none" cap="none" strike="noStrike">
                <a:solidFill>
                  <a:srgbClr val="F3F3F3"/>
                </a:solidFill>
                <a:latin typeface="Arial"/>
                <a:ea typeface="Arial"/>
                <a:cs typeface="Arial"/>
                <a:sym typeface="Arial"/>
              </a:rPr>
              <a:t>‹#›</a:t>
            </a:fld>
            <a:endParaRPr b="0" i="0" sz="1400" u="none" cap="none" strike="noStrike">
              <a:solidFill>
                <a:srgbClr val="F3F3F3"/>
              </a:solidFill>
              <a:latin typeface="Arial"/>
              <a:ea typeface="Arial"/>
              <a:cs typeface="Arial"/>
              <a:sym typeface="Arial"/>
            </a:endParaRPr>
          </a:p>
        </p:txBody>
      </p:sp>
      <p:sp>
        <p:nvSpPr>
          <p:cNvPr id="290" name="Google Shape;290;g34826ca313d_2_16"/>
          <p:cNvSpPr txBox="1"/>
          <p:nvPr/>
        </p:nvSpPr>
        <p:spPr>
          <a:xfrm>
            <a:off x="776535" y="173655"/>
            <a:ext cx="84969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Microsoft配信結果</a:t>
            </a:r>
            <a:endParaRPr b="1" i="0" sz="2400" u="none" cap="none" strike="noStrike">
              <a:solidFill>
                <a:srgbClr val="002060"/>
              </a:solidFill>
              <a:latin typeface="Arial"/>
              <a:ea typeface="Arial"/>
              <a:cs typeface="Arial"/>
              <a:sym typeface="Arial"/>
            </a:endParaRPr>
          </a:p>
        </p:txBody>
      </p:sp>
      <p:grpSp>
        <p:nvGrpSpPr>
          <p:cNvPr id="291" name="Google Shape;291;g34826ca313d_2_16"/>
          <p:cNvGrpSpPr/>
          <p:nvPr/>
        </p:nvGrpSpPr>
        <p:grpSpPr>
          <a:xfrm>
            <a:off x="197301" y="169894"/>
            <a:ext cx="576000" cy="576000"/>
            <a:chOff x="295350" y="259019"/>
            <a:chExt cx="614400" cy="614400"/>
          </a:xfrm>
        </p:grpSpPr>
        <p:sp>
          <p:nvSpPr>
            <p:cNvPr id="292" name="Google Shape;292;g34826ca313d_2_16"/>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293" name="Google Shape;293;g34826ca313d_2_16"/>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294" name="Google Shape;294;g34826ca313d_2_1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5" name="Google Shape;295;g34826ca313d_2_16"/>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6" name="Google Shape;296;g34826ca313d_2_16"/>
          <p:cNvSpPr txBox="1"/>
          <p:nvPr/>
        </p:nvSpPr>
        <p:spPr>
          <a:xfrm>
            <a:off x="128475" y="890725"/>
            <a:ext cx="9777600" cy="8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rgbClr val="000000"/>
                </a:solidFill>
                <a:latin typeface="Meiryo"/>
                <a:ea typeface="Meiryo"/>
                <a:cs typeface="Meiryo"/>
                <a:sym typeface="Meiryo"/>
              </a:rPr>
              <a:t>Microsoft広告を少額で運用しています。</a:t>
            </a:r>
            <a:endParaRPr b="0" i="0" sz="17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rgbClr val="000000"/>
                </a:solidFill>
                <a:latin typeface="Meiryo"/>
                <a:ea typeface="Meiryo"/>
                <a:cs typeface="Meiryo"/>
                <a:sym typeface="Meiryo"/>
              </a:rPr>
              <a:t>指名検索のみ展開しておりCPC</a:t>
            </a:r>
            <a:r>
              <a:rPr lang="ja-JP" sz="1700">
                <a:latin typeface="Meiryo"/>
                <a:ea typeface="Meiryo"/>
                <a:cs typeface="Meiryo"/>
                <a:sym typeface="Meiryo"/>
              </a:rPr>
              <a:t>8</a:t>
            </a:r>
            <a:r>
              <a:rPr b="0" i="0" lang="ja-JP" sz="1700" u="none" cap="none" strike="noStrike">
                <a:solidFill>
                  <a:srgbClr val="000000"/>
                </a:solidFill>
                <a:latin typeface="Meiryo"/>
                <a:ea typeface="Meiryo"/>
                <a:cs typeface="Meiryo"/>
                <a:sym typeface="Meiryo"/>
              </a:rPr>
              <a:t>1円と安価です。</a:t>
            </a:r>
            <a:endParaRPr b="0" i="0" sz="17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800"/>
              <a:buFont typeface="Arial"/>
              <a:buNone/>
            </a:pPr>
            <a:r>
              <a:rPr b="0" i="0" lang="ja-JP" sz="1700" u="none" cap="none" strike="noStrike">
                <a:solidFill>
                  <a:srgbClr val="000000"/>
                </a:solidFill>
                <a:latin typeface="Meiryo"/>
                <a:ea typeface="Meiryo"/>
                <a:cs typeface="Meiryo"/>
                <a:sym typeface="Meiryo"/>
              </a:rPr>
              <a:t>直接のCVは</a:t>
            </a:r>
            <a:r>
              <a:rPr lang="ja-JP" sz="1700">
                <a:latin typeface="Meiryo"/>
                <a:ea typeface="Meiryo"/>
                <a:cs typeface="Meiryo"/>
                <a:sym typeface="Meiryo"/>
              </a:rPr>
              <a:t>2</a:t>
            </a:r>
            <a:r>
              <a:rPr b="0" i="0" lang="ja-JP" sz="1700" u="none" cap="none" strike="noStrike">
                <a:solidFill>
                  <a:srgbClr val="000000"/>
                </a:solidFill>
                <a:latin typeface="Meiryo"/>
                <a:ea typeface="Meiryo"/>
                <a:cs typeface="Meiryo"/>
                <a:sym typeface="Meiryo"/>
              </a:rPr>
              <a:t>件発生しており、効果は確認できています。引き続き少額での継続を実施します。</a:t>
            </a:r>
            <a:endParaRPr b="0" i="0" sz="1700" u="none" cap="none" strike="noStrike">
              <a:solidFill>
                <a:srgbClr val="000000"/>
              </a:solidFill>
              <a:latin typeface="Meiryo"/>
              <a:ea typeface="Meiryo"/>
              <a:cs typeface="Meiryo"/>
              <a:sym typeface="Meiryo"/>
            </a:endParaRPr>
          </a:p>
        </p:txBody>
      </p:sp>
      <p:pic>
        <p:nvPicPr>
          <p:cNvPr id="297" name="Google Shape;297;g34826ca313d_2_16"/>
          <p:cNvPicPr preferRelativeResize="0"/>
          <p:nvPr/>
        </p:nvPicPr>
        <p:blipFill>
          <a:blip r:embed="rId4">
            <a:alphaModFix/>
          </a:blip>
          <a:stretch>
            <a:fillRect/>
          </a:stretch>
        </p:blipFill>
        <p:spPr>
          <a:xfrm>
            <a:off x="152400" y="1920325"/>
            <a:ext cx="8477250" cy="514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4"/>
          <p:cNvSpPr/>
          <p:nvPr/>
        </p:nvSpPr>
        <p:spPr>
          <a:xfrm>
            <a:off x="0" y="6698636"/>
            <a:ext cx="9906000" cy="1662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p24"/>
          <p:cNvSpPr txBox="1"/>
          <p:nvPr/>
        </p:nvSpPr>
        <p:spPr>
          <a:xfrm>
            <a:off x="7677150" y="6619225"/>
            <a:ext cx="2229000" cy="31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3F3F3"/>
              </a:buClr>
              <a:buSzPts val="1400"/>
              <a:buFont typeface="Arial"/>
              <a:buNone/>
            </a:pPr>
            <a:fld id="{00000000-1234-1234-1234-123412341234}" type="slidenum">
              <a:rPr b="0" i="0" lang="ja-JP" sz="1400" u="none" cap="none" strike="noStrike">
                <a:solidFill>
                  <a:srgbClr val="F3F3F3"/>
                </a:solidFill>
                <a:latin typeface="Arial"/>
                <a:ea typeface="Arial"/>
                <a:cs typeface="Arial"/>
                <a:sym typeface="Arial"/>
              </a:rPr>
              <a:t>‹#›</a:t>
            </a:fld>
            <a:endParaRPr b="0" i="0" sz="1400" u="none" cap="none" strike="noStrike">
              <a:solidFill>
                <a:srgbClr val="F3F3F3"/>
              </a:solidFill>
              <a:latin typeface="Arial"/>
              <a:ea typeface="Arial"/>
              <a:cs typeface="Arial"/>
              <a:sym typeface="Arial"/>
            </a:endParaRPr>
          </a:p>
        </p:txBody>
      </p:sp>
      <p:sp>
        <p:nvSpPr>
          <p:cNvPr id="304" name="Google Shape;304;p24"/>
          <p:cNvSpPr txBox="1"/>
          <p:nvPr/>
        </p:nvSpPr>
        <p:spPr>
          <a:xfrm>
            <a:off x="776535" y="173655"/>
            <a:ext cx="8496900" cy="50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ja-JP" sz="2400" u="none" cap="none" strike="noStrike">
                <a:solidFill>
                  <a:srgbClr val="002060"/>
                </a:solidFill>
                <a:latin typeface="Arial"/>
                <a:ea typeface="Arial"/>
                <a:cs typeface="Arial"/>
                <a:sym typeface="Arial"/>
              </a:rPr>
              <a:t>今後の予算方針のご確認（昨年比データ）</a:t>
            </a:r>
            <a:endParaRPr b="1" i="0" sz="2400" u="none" cap="none" strike="noStrike">
              <a:solidFill>
                <a:srgbClr val="002060"/>
              </a:solidFill>
              <a:latin typeface="Arial"/>
              <a:ea typeface="Arial"/>
              <a:cs typeface="Arial"/>
              <a:sym typeface="Arial"/>
            </a:endParaRPr>
          </a:p>
        </p:txBody>
      </p:sp>
      <p:grpSp>
        <p:nvGrpSpPr>
          <p:cNvPr id="305" name="Google Shape;305;p24"/>
          <p:cNvGrpSpPr/>
          <p:nvPr/>
        </p:nvGrpSpPr>
        <p:grpSpPr>
          <a:xfrm>
            <a:off x="197301" y="169894"/>
            <a:ext cx="576000" cy="576000"/>
            <a:chOff x="295350" y="259019"/>
            <a:chExt cx="614400" cy="614400"/>
          </a:xfrm>
        </p:grpSpPr>
        <p:sp>
          <p:nvSpPr>
            <p:cNvPr id="306" name="Google Shape;306;p24"/>
            <p:cNvSpPr/>
            <p:nvPr/>
          </p:nvSpPr>
          <p:spPr>
            <a:xfrm>
              <a:off x="295350" y="259019"/>
              <a:ext cx="614400" cy="614400"/>
            </a:xfrm>
            <a:prstGeom prst="rect">
              <a:avLst/>
            </a:prstGeom>
            <a:solidFill>
              <a:srgbClr val="16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pic>
          <p:nvPicPr>
            <p:cNvPr id="307" name="Google Shape;307;p24"/>
            <p:cNvPicPr preferRelativeResize="0"/>
            <p:nvPr/>
          </p:nvPicPr>
          <p:blipFill rotWithShape="1">
            <a:blip r:embed="rId3">
              <a:alphaModFix/>
            </a:blip>
            <a:srcRect b="0" l="0" r="0" t="0"/>
            <a:stretch/>
          </p:blipFill>
          <p:spPr>
            <a:xfrm flipH="1">
              <a:off x="583974" y="259025"/>
              <a:ext cx="320375" cy="610051"/>
            </a:xfrm>
            <a:prstGeom prst="rect">
              <a:avLst/>
            </a:prstGeom>
            <a:noFill/>
            <a:ln>
              <a:noFill/>
            </a:ln>
          </p:spPr>
        </p:pic>
      </p:grpSp>
      <p:sp>
        <p:nvSpPr>
          <p:cNvPr id="308" name="Google Shape;308;p24"/>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9" name="Google Shape;309;p24"/>
          <p:cNvSpPr/>
          <p:nvPr/>
        </p:nvSpPr>
        <p:spPr>
          <a:xfrm>
            <a:off x="128464" y="818736"/>
            <a:ext cx="9360000" cy="72000"/>
          </a:xfrm>
          <a:prstGeom prst="rect">
            <a:avLst/>
          </a:prstGeom>
          <a:gradFill>
            <a:gsLst>
              <a:gs pos="0">
                <a:srgbClr val="0F243E"/>
              </a:gs>
              <a:gs pos="68000">
                <a:srgbClr val="0F243E"/>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24"/>
          <p:cNvSpPr txBox="1"/>
          <p:nvPr>
            <p:ph idx="12" type="sldNum"/>
          </p:nvPr>
        </p:nvSpPr>
        <p:spPr>
          <a:xfrm>
            <a:off x="7099300" y="6356351"/>
            <a:ext cx="23115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ja-JP"/>
              <a:t>‹#›</a:t>
            </a:fld>
            <a:endParaRPr/>
          </a:p>
        </p:txBody>
      </p:sp>
      <p:sp>
        <p:nvSpPr>
          <p:cNvPr id="311" name="Google Shape;311;p24"/>
          <p:cNvSpPr txBox="1"/>
          <p:nvPr/>
        </p:nvSpPr>
        <p:spPr>
          <a:xfrm>
            <a:off x="2868950" y="2529100"/>
            <a:ext cx="86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ja-JP" sz="1800">
                <a:solidFill>
                  <a:schemeClr val="dk1"/>
                </a:solidFill>
                <a:latin typeface="Meiryo"/>
                <a:ea typeface="Meiryo"/>
                <a:cs typeface="Meiryo"/>
                <a:sym typeface="Meiryo"/>
              </a:rPr>
              <a:t>5</a:t>
            </a:r>
            <a:r>
              <a:rPr b="0" i="0" lang="ja-JP" sz="1800" u="none" cap="none" strike="noStrike">
                <a:solidFill>
                  <a:schemeClr val="dk1"/>
                </a:solidFill>
                <a:latin typeface="Meiryo"/>
                <a:ea typeface="Meiryo"/>
                <a:cs typeface="Meiryo"/>
                <a:sym typeface="Meiryo"/>
              </a:rPr>
              <a:t>月</a:t>
            </a:r>
            <a:endParaRPr b="0" i="0" sz="1800" u="none" cap="none" strike="noStrike">
              <a:solidFill>
                <a:schemeClr val="dk1"/>
              </a:solidFill>
              <a:latin typeface="Meiryo"/>
              <a:ea typeface="Meiryo"/>
              <a:cs typeface="Meiryo"/>
              <a:sym typeface="Meiryo"/>
            </a:endParaRPr>
          </a:p>
        </p:txBody>
      </p:sp>
      <p:sp>
        <p:nvSpPr>
          <p:cNvPr id="312" name="Google Shape;312;p24"/>
          <p:cNvSpPr txBox="1"/>
          <p:nvPr/>
        </p:nvSpPr>
        <p:spPr>
          <a:xfrm>
            <a:off x="776535" y="1770771"/>
            <a:ext cx="6480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chemeClr val="dk1"/>
                </a:solidFill>
                <a:latin typeface="Meiryo"/>
                <a:ea typeface="Meiryo"/>
                <a:cs typeface="Meiryo"/>
                <a:sym typeface="Meiryo"/>
              </a:rPr>
              <a:t>CV：資料請求＋体験授業+qubo</a:t>
            </a:r>
            <a:endParaRPr b="0" i="0" sz="1600" u="none" cap="none" strike="noStrike">
              <a:solidFill>
                <a:schemeClr val="dk1"/>
              </a:solidFill>
              <a:latin typeface="Meiryo"/>
              <a:ea typeface="Meiryo"/>
              <a:cs typeface="Meiryo"/>
              <a:sym typeface="Meiryo"/>
            </a:endParaRPr>
          </a:p>
        </p:txBody>
      </p:sp>
      <p:sp>
        <p:nvSpPr>
          <p:cNvPr id="313" name="Google Shape;313;p24"/>
          <p:cNvSpPr txBox="1"/>
          <p:nvPr/>
        </p:nvSpPr>
        <p:spPr>
          <a:xfrm>
            <a:off x="116440" y="956361"/>
            <a:ext cx="9748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ja-JP" sz="1700">
                <a:solidFill>
                  <a:schemeClr val="dk1"/>
                </a:solidFill>
                <a:latin typeface="Meiryo"/>
                <a:ea typeface="Meiryo"/>
                <a:cs typeface="Meiryo"/>
                <a:sym typeface="Meiryo"/>
              </a:rPr>
              <a:t>6</a:t>
            </a:r>
            <a:r>
              <a:rPr b="0" i="0" lang="ja-JP" sz="1700" u="none" cap="none" strike="noStrike">
                <a:solidFill>
                  <a:schemeClr val="dk1"/>
                </a:solidFill>
                <a:latin typeface="Meiryo"/>
                <a:ea typeface="Meiryo"/>
                <a:cs typeface="Meiryo"/>
                <a:sym typeface="Meiryo"/>
              </a:rPr>
              <a:t>月は平均的にCV獲得が進むため、予算も均等に配信を進めます。</a:t>
            </a:r>
            <a:endParaRPr b="0" i="0" sz="1700" u="none" cap="none" strike="noStrike">
              <a:solidFill>
                <a:schemeClr val="dk1"/>
              </a:solidFill>
              <a:latin typeface="Meiryo"/>
              <a:ea typeface="Meiryo"/>
              <a:cs typeface="Meiryo"/>
              <a:sym typeface="Meiryo"/>
            </a:endParaRPr>
          </a:p>
        </p:txBody>
      </p:sp>
      <p:sp>
        <p:nvSpPr>
          <p:cNvPr id="314" name="Google Shape;314;p24"/>
          <p:cNvSpPr txBox="1"/>
          <p:nvPr/>
        </p:nvSpPr>
        <p:spPr>
          <a:xfrm>
            <a:off x="4871713" y="2529100"/>
            <a:ext cx="86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ja-JP" sz="1800">
                <a:solidFill>
                  <a:schemeClr val="dk1"/>
                </a:solidFill>
                <a:latin typeface="Meiryo"/>
                <a:ea typeface="Meiryo"/>
                <a:cs typeface="Meiryo"/>
                <a:sym typeface="Meiryo"/>
              </a:rPr>
              <a:t>6</a:t>
            </a:r>
            <a:r>
              <a:rPr b="0" i="0" lang="ja-JP" sz="1800" u="none" cap="none" strike="noStrike">
                <a:solidFill>
                  <a:schemeClr val="dk1"/>
                </a:solidFill>
                <a:latin typeface="Meiryo"/>
                <a:ea typeface="Meiryo"/>
                <a:cs typeface="Meiryo"/>
                <a:sym typeface="Meiryo"/>
              </a:rPr>
              <a:t>月</a:t>
            </a:r>
            <a:endParaRPr b="0" i="0" sz="1800" u="none" cap="none" strike="noStrike">
              <a:solidFill>
                <a:schemeClr val="dk1"/>
              </a:solidFill>
              <a:latin typeface="Meiryo"/>
              <a:ea typeface="Meiryo"/>
              <a:cs typeface="Meiryo"/>
              <a:sym typeface="Meiryo"/>
            </a:endParaRPr>
          </a:p>
        </p:txBody>
      </p:sp>
      <p:pic>
        <p:nvPicPr>
          <p:cNvPr id="315" name="Google Shape;315;p24"/>
          <p:cNvPicPr preferRelativeResize="0"/>
          <p:nvPr/>
        </p:nvPicPr>
        <p:blipFill rotWithShape="1">
          <a:blip r:embed="rId4">
            <a:alphaModFix/>
          </a:blip>
          <a:srcRect b="0" l="0" r="0" t="0"/>
          <a:stretch/>
        </p:blipFill>
        <p:spPr>
          <a:xfrm>
            <a:off x="8917172" y="2989536"/>
            <a:ext cx="792628" cy="784013"/>
          </a:xfrm>
          <a:prstGeom prst="rect">
            <a:avLst/>
          </a:prstGeom>
          <a:noFill/>
          <a:ln>
            <a:noFill/>
          </a:ln>
        </p:spPr>
      </p:pic>
      <p:sp>
        <p:nvSpPr>
          <p:cNvPr id="316" name="Google Shape;316;p24"/>
          <p:cNvSpPr txBox="1"/>
          <p:nvPr/>
        </p:nvSpPr>
        <p:spPr>
          <a:xfrm>
            <a:off x="6874475" y="2529100"/>
            <a:ext cx="86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ja-JP" sz="1800">
                <a:solidFill>
                  <a:schemeClr val="dk1"/>
                </a:solidFill>
                <a:latin typeface="Meiryo"/>
                <a:ea typeface="Meiryo"/>
                <a:cs typeface="Meiryo"/>
                <a:sym typeface="Meiryo"/>
              </a:rPr>
              <a:t>7</a:t>
            </a:r>
            <a:r>
              <a:rPr b="0" i="0" lang="ja-JP" sz="1800" u="none" cap="none" strike="noStrike">
                <a:solidFill>
                  <a:schemeClr val="dk1"/>
                </a:solidFill>
                <a:latin typeface="Meiryo"/>
                <a:ea typeface="Meiryo"/>
                <a:cs typeface="Meiryo"/>
                <a:sym typeface="Meiryo"/>
              </a:rPr>
              <a:t>月</a:t>
            </a:r>
            <a:endParaRPr b="0" i="0" sz="1800" u="none" cap="none" strike="noStrike">
              <a:solidFill>
                <a:schemeClr val="dk1"/>
              </a:solidFill>
              <a:latin typeface="Meiryo"/>
              <a:ea typeface="Meiryo"/>
              <a:cs typeface="Meiryo"/>
              <a:sym typeface="Meiryo"/>
            </a:endParaRPr>
          </a:p>
        </p:txBody>
      </p:sp>
      <p:pic>
        <p:nvPicPr>
          <p:cNvPr id="317" name="Google Shape;317;p24"/>
          <p:cNvPicPr preferRelativeResize="0"/>
          <p:nvPr/>
        </p:nvPicPr>
        <p:blipFill>
          <a:blip r:embed="rId5">
            <a:alphaModFix/>
          </a:blip>
          <a:stretch>
            <a:fillRect/>
          </a:stretch>
        </p:blipFill>
        <p:spPr>
          <a:xfrm>
            <a:off x="1471363" y="3050800"/>
            <a:ext cx="7038975" cy="2962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TOSHIBA</dc:creator>
</cp:coreProperties>
</file>