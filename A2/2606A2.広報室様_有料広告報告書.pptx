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906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gDMfcTexfxEE/KZf/J+mZhN0EU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6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ja-JP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/>
          <p:nvPr>
            <p:ph idx="2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/>
          <p:nvPr>
            <p:ph idx="2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 txBox="1"/>
          <p:nvPr>
            <p:ph idx="12" type="sldNum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/>
          <p:nvPr>
            <p:ph idx="2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 txBox="1"/>
          <p:nvPr>
            <p:ph idx="12" type="sldNum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/>
          <p:nvPr>
            <p:ph idx="2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 txBox="1"/>
          <p:nvPr>
            <p:ph idx="12" type="sldNum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/>
          <p:nvPr>
            <p:ph idx="2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 txBox="1"/>
          <p:nvPr>
            <p:ph idx="12" type="sldNum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/>
          <p:nvPr>
            <p:ph idx="2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 txBox="1"/>
          <p:nvPr>
            <p:ph idx="12" type="sldNum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/>
          <p:nvPr>
            <p:ph idx="2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 txBox="1"/>
          <p:nvPr>
            <p:ph idx="12" type="sldNum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f93b66ce31_0_12:notes"/>
          <p:cNvSpPr/>
          <p:nvPr>
            <p:ph idx="2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2f93b66ce31_0_12:notes"/>
          <p:cNvSpPr txBox="1"/>
          <p:nvPr>
            <p:ph idx="1" type="body"/>
          </p:nvPr>
        </p:nvSpPr>
        <p:spPr>
          <a:xfrm>
            <a:off x="710407" y="4861441"/>
            <a:ext cx="56832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g2f93b66ce31_0_12:notes"/>
          <p:cNvSpPr txBox="1"/>
          <p:nvPr>
            <p:ph idx="12" type="sldNum"/>
          </p:nvPr>
        </p:nvSpPr>
        <p:spPr>
          <a:xfrm>
            <a:off x="4023992" y="9721106"/>
            <a:ext cx="30783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e331d7859d_0_0:notes"/>
          <p:cNvSpPr/>
          <p:nvPr>
            <p:ph idx="2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2e331d7859d_0_0:notes"/>
          <p:cNvSpPr txBox="1"/>
          <p:nvPr>
            <p:ph idx="1" type="body"/>
          </p:nvPr>
        </p:nvSpPr>
        <p:spPr>
          <a:xfrm>
            <a:off x="710407" y="4861441"/>
            <a:ext cx="56832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g2e331d7859d_0_0:notes"/>
          <p:cNvSpPr txBox="1"/>
          <p:nvPr>
            <p:ph idx="12" type="sldNum"/>
          </p:nvPr>
        </p:nvSpPr>
        <p:spPr>
          <a:xfrm>
            <a:off x="4023992" y="9721106"/>
            <a:ext cx="30783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:notes"/>
          <p:cNvSpPr/>
          <p:nvPr>
            <p:ph idx="2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9:notes"/>
          <p:cNvSpPr txBox="1"/>
          <p:nvPr>
            <p:ph idx="1" type="body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9:notes"/>
          <p:cNvSpPr txBox="1"/>
          <p:nvPr>
            <p:ph idx="12" type="sldNum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7fba19d031_0_30:notes"/>
          <p:cNvSpPr txBox="1"/>
          <p:nvPr>
            <p:ph idx="1" type="body"/>
          </p:nvPr>
        </p:nvSpPr>
        <p:spPr>
          <a:xfrm>
            <a:off x="710407" y="4861441"/>
            <a:ext cx="56832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g27fba19d031_0_30:notes"/>
          <p:cNvSpPr/>
          <p:nvPr>
            <p:ph idx="2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4826ca313d_2_16:notes"/>
          <p:cNvSpPr txBox="1"/>
          <p:nvPr>
            <p:ph idx="1" type="body"/>
          </p:nvPr>
        </p:nvSpPr>
        <p:spPr>
          <a:xfrm>
            <a:off x="710407" y="4861441"/>
            <a:ext cx="56832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g34826ca313d_2_16:notes"/>
          <p:cNvSpPr/>
          <p:nvPr>
            <p:ph idx="2" type="sldImg"/>
          </p:nvPr>
        </p:nvSpPr>
        <p:spPr>
          <a:xfrm>
            <a:off x="781050" y="768350"/>
            <a:ext cx="5541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:notes"/>
          <p:cNvSpPr txBox="1"/>
          <p:nvPr>
            <p:ph idx="1" type="body"/>
          </p:nvPr>
        </p:nvSpPr>
        <p:spPr>
          <a:xfrm>
            <a:off x="710407" y="4861441"/>
            <a:ext cx="56832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24:notes"/>
          <p:cNvSpPr/>
          <p:nvPr>
            <p:ph idx="2" type="sldImg"/>
          </p:nvPr>
        </p:nvSpPr>
        <p:spPr>
          <a:xfrm>
            <a:off x="781050" y="768350"/>
            <a:ext cx="5541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プレースホルダなし">
  <p:cSld name=" プレースホルダなし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" type="body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 txBox="1"/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" type="body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495300" y="1600201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5035550" y="1600201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6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" type="body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7"/>
          <p:cNvSpPr txBox="1"/>
          <p:nvPr>
            <p:ph idx="2" type="body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17"/>
          <p:cNvSpPr txBox="1"/>
          <p:nvPr>
            <p:ph idx="3" type="body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7"/>
          <p:cNvSpPr txBox="1"/>
          <p:nvPr>
            <p:ph idx="4" type="body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17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" type="body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20"/>
          <p:cNvSpPr txBox="1"/>
          <p:nvPr>
            <p:ph idx="2" type="body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/>
          <p:nvPr>
            <p:ph idx="2" type="pic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1"/>
          <p:cNvSpPr txBox="1"/>
          <p:nvPr>
            <p:ph idx="1" type="body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21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" type="body"/>
          </p:nvPr>
        </p:nvSpPr>
        <p:spPr>
          <a:xfrm rot="5400000">
            <a:off x="2690018" y="-594518"/>
            <a:ext cx="4525963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縦書きテキスト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3"/>
          <p:cNvSpPr txBox="1"/>
          <p:nvPr>
            <p:ph type="title"/>
          </p:nvPr>
        </p:nvSpPr>
        <p:spPr>
          <a:xfrm rot="5400000">
            <a:off x="5370512" y="2085976"/>
            <a:ext cx="5851525" cy="2228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" type="body"/>
          </p:nvPr>
        </p:nvSpPr>
        <p:spPr>
          <a:xfrm rot="5400000">
            <a:off x="830262" y="-60323"/>
            <a:ext cx="5851525" cy="652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jpg"/><Relationship Id="rId7" Type="http://schemas.openxmlformats.org/officeDocument/2006/relationships/image" Target="../media/image8.png"/><Relationship Id="rId8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Relationship Id="rId8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/>
        </p:nvSpPr>
        <p:spPr>
          <a:xfrm>
            <a:off x="506506" y="620688"/>
            <a:ext cx="9023610" cy="504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ja-JP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中萬学院　広報室　御中</a:t>
            </a:r>
            <a:endParaRPr b="0" i="0" sz="36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71250" y="1584769"/>
            <a:ext cx="90237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ja-JP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6月分有料広告報告書</a:t>
            </a:r>
            <a:endParaRPr b="0" i="0" sz="36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5122032" y="5229200"/>
            <a:ext cx="4029408" cy="105060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7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ja-JP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システム・アシスト</a:t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ja-JP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SPENDA</a:t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>
            <p:ph idx="12" type="sldNum"/>
          </p:nvPr>
        </p:nvSpPr>
        <p:spPr>
          <a:xfrm>
            <a:off x="9705552" y="6684122"/>
            <a:ext cx="21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ja-JP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208584" y="3215452"/>
            <a:ext cx="6718720" cy="14826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7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ja-JP" sz="3200" u="none" cap="none" strike="noStrike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1. 昨年度との比較結果</a:t>
            </a:r>
            <a:endParaRPr b="0" i="0" sz="3200" u="none" cap="none" strike="noStrike">
              <a:solidFill>
                <a:srgbClr val="00206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7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ja-JP" sz="3200" u="none" cap="none" strike="noStrike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2. 詳細結果と改善施策</a:t>
            </a:r>
            <a:endParaRPr b="0" i="0" sz="3200" u="none" cap="none" strike="noStrike">
              <a:solidFill>
                <a:srgbClr val="00206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0" y="6698636"/>
            <a:ext cx="9906000" cy="166328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-8736" y="0"/>
            <a:ext cx="9906000" cy="166328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6698636"/>
            <a:ext cx="9906000" cy="166328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>
            <p:ph idx="12" type="sldNum"/>
          </p:nvPr>
        </p:nvSpPr>
        <p:spPr>
          <a:xfrm>
            <a:off x="9705552" y="6684122"/>
            <a:ext cx="21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ja-JP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326686" y="2122103"/>
            <a:ext cx="253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-JP" sz="2000" u="sng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有料広告全体</a:t>
            </a:r>
            <a:endParaRPr b="0" i="0" sz="2000" u="sng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776535" y="200543"/>
            <a:ext cx="9129465" cy="504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全体結果、過去同月との比較</a:t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" name="Google Shape;108;p2"/>
          <p:cNvGrpSpPr/>
          <p:nvPr/>
        </p:nvGrpSpPr>
        <p:grpSpPr>
          <a:xfrm>
            <a:off x="197301" y="169894"/>
            <a:ext cx="576001" cy="576000"/>
            <a:chOff x="295350" y="259019"/>
            <a:chExt cx="614400" cy="614399"/>
          </a:xfrm>
        </p:grpSpPr>
        <p:sp>
          <p:nvSpPr>
            <p:cNvPr id="109" name="Google Shape;109;p2"/>
            <p:cNvSpPr/>
            <p:nvPr/>
          </p:nvSpPr>
          <p:spPr>
            <a:xfrm>
              <a:off x="295350" y="259019"/>
              <a:ext cx="614400" cy="614399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0" name="Google Shape;110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1" name="Google Shape;111;p2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2" y="973483"/>
            <a:ext cx="9906000" cy="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-JP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やYahoo!の全体CPAは5,590円でした。直近2年で比較するとCPAは改善傾向にあり、CV数も安定して推移しています。媒体別ではP-MAXが引き続き好調で、45件のCVを獲得しました。検索広告については、YahooのほうがGoogleよりも効率よくCVを獲得できています。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5434416" y="6143858"/>
            <a:ext cx="4054048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-JP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※レポート作成時の比較（翌月2日前後）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-JP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※Instagram/Microsoft広告分は除く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114" name="Google Shape;114;p2"/>
          <p:cNvGrpSpPr/>
          <p:nvPr/>
        </p:nvGrpSpPr>
        <p:grpSpPr>
          <a:xfrm>
            <a:off x="211775" y="2467776"/>
            <a:ext cx="9482450" cy="961225"/>
            <a:chOff x="179400" y="2715126"/>
            <a:chExt cx="9482450" cy="961225"/>
          </a:xfrm>
        </p:grpSpPr>
        <p:pic>
          <p:nvPicPr>
            <p:cNvPr id="115" name="Google Shape;1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9400" y="2715126"/>
              <a:ext cx="9482449" cy="961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" name="Google Shape;116;p2"/>
            <p:cNvSpPr/>
            <p:nvPr/>
          </p:nvSpPr>
          <p:spPr>
            <a:xfrm>
              <a:off x="6509450" y="2762938"/>
              <a:ext cx="3152400" cy="90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83276" y="3632622"/>
            <a:ext cx="8804799" cy="2352323"/>
            <a:chOff x="183276" y="3737006"/>
            <a:chExt cx="8804799" cy="2352323"/>
          </a:xfrm>
        </p:grpSpPr>
        <p:sp>
          <p:nvSpPr>
            <p:cNvPr id="118" name="Google Shape;118;p2"/>
            <p:cNvSpPr txBox="1"/>
            <p:nvPr/>
          </p:nvSpPr>
          <p:spPr>
            <a:xfrm>
              <a:off x="326676" y="3737006"/>
              <a:ext cx="2838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ja-JP" sz="2000" u="sng" cap="none" strike="noStrik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Google,Yahoo別</a:t>
              </a:r>
              <a:endParaRPr b="0" i="0" sz="2000" u="sng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pic>
          <p:nvPicPr>
            <p:cNvPr id="119" name="Google Shape;119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83276" y="4099779"/>
              <a:ext cx="8804799" cy="1989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2"/>
            <p:cNvSpPr/>
            <p:nvPr/>
          </p:nvSpPr>
          <p:spPr>
            <a:xfrm>
              <a:off x="6171000" y="4137200"/>
              <a:ext cx="2807400" cy="150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6058800" y="5728012"/>
              <a:ext cx="2919600" cy="34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300" y="1972400"/>
            <a:ext cx="8710176" cy="447102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/>
          <p:nvPr/>
        </p:nvSpPr>
        <p:spPr>
          <a:xfrm>
            <a:off x="0" y="6698636"/>
            <a:ext cx="9906000" cy="1662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>
            <p:ph idx="12" type="sldNum"/>
          </p:nvPr>
        </p:nvSpPr>
        <p:spPr>
          <a:xfrm>
            <a:off x="9705552" y="6673947"/>
            <a:ext cx="21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ja-JP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55800" y="905626"/>
            <a:ext cx="9794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-JP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がCV獲得の中心となっており、P-MAXと検索広告からほぼ同数のCV（45件・51件）を獲得しています。Yahoo!はCV獲得が伸び悩んでおり、低調な状態が続いています。デバイス別では、引き続きスマートフォンからの流入が中心です。  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" name="Google Shape;131;p3"/>
          <p:cNvGrpSpPr/>
          <p:nvPr/>
        </p:nvGrpSpPr>
        <p:grpSpPr>
          <a:xfrm>
            <a:off x="197301" y="169894"/>
            <a:ext cx="576001" cy="576000"/>
            <a:chOff x="295350" y="259019"/>
            <a:chExt cx="614400" cy="614399"/>
          </a:xfrm>
        </p:grpSpPr>
        <p:sp>
          <p:nvSpPr>
            <p:cNvPr id="132" name="Google Shape;132;p3"/>
            <p:cNvSpPr/>
            <p:nvPr/>
          </p:nvSpPr>
          <p:spPr>
            <a:xfrm>
              <a:off x="295350" y="259019"/>
              <a:ext cx="614400" cy="614399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3" name="Google Shape;133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" name="Google Shape;134;p3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773302" y="173655"/>
            <a:ext cx="9132698" cy="504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媒体/デバイス/検索ディスプレイ別結果</a:t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87475" y="2690975"/>
            <a:ext cx="862725" cy="73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90875" y="4957300"/>
            <a:ext cx="862725" cy="89354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"/>
          <p:cNvSpPr/>
          <p:nvPr/>
        </p:nvSpPr>
        <p:spPr>
          <a:xfrm>
            <a:off x="8410925" y="2011125"/>
            <a:ext cx="480000" cy="4402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"/>
          <p:cNvSpPr/>
          <p:nvPr/>
        </p:nvSpPr>
        <p:spPr>
          <a:xfrm>
            <a:off x="1701" y="6698636"/>
            <a:ext cx="9906000" cy="166328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773302" y="173655"/>
            <a:ext cx="9132698" cy="504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CV種類の月次推移</a:t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>
            <p:ph idx="12" type="sldNum"/>
          </p:nvPr>
        </p:nvSpPr>
        <p:spPr>
          <a:xfrm>
            <a:off x="9705552" y="6684122"/>
            <a:ext cx="21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ja-JP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27300" y="996975"/>
            <a:ext cx="98106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-JP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CVはqubo経由が最も多く、次いで資料請求、体験学習という順番でした。昨年と比較すると、体験学習が大幅に増加した一方、qubo経由は減少しています。資料請求はほぼ横ばいです。 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" name="Google Shape;149;p4"/>
          <p:cNvGrpSpPr/>
          <p:nvPr/>
        </p:nvGrpSpPr>
        <p:grpSpPr>
          <a:xfrm>
            <a:off x="197301" y="169894"/>
            <a:ext cx="576001" cy="576000"/>
            <a:chOff x="295350" y="259019"/>
            <a:chExt cx="614400" cy="614399"/>
          </a:xfrm>
        </p:grpSpPr>
        <p:sp>
          <p:nvSpPr>
            <p:cNvPr id="150" name="Google Shape;150;p4"/>
            <p:cNvSpPr/>
            <p:nvPr/>
          </p:nvSpPr>
          <p:spPr>
            <a:xfrm>
              <a:off x="295350" y="259019"/>
              <a:ext cx="614400" cy="614399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1" name="Google Shape;151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2" name="Google Shape;15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26150" y="2590800"/>
            <a:ext cx="7429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475" y="2246669"/>
            <a:ext cx="8774425" cy="415806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4"/>
          <p:cNvSpPr/>
          <p:nvPr/>
        </p:nvSpPr>
        <p:spPr>
          <a:xfrm>
            <a:off x="8401100" y="4100775"/>
            <a:ext cx="473700" cy="1107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8312400" y="5297150"/>
            <a:ext cx="544200" cy="1072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/>
          <p:nvPr/>
        </p:nvSpPr>
        <p:spPr>
          <a:xfrm>
            <a:off x="0" y="6698636"/>
            <a:ext cx="9906000" cy="1662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773302" y="173655"/>
            <a:ext cx="84345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キャンペーン別CV数結果 (chuman.jp)</a:t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 txBox="1"/>
          <p:nvPr>
            <p:ph idx="12" type="sldNum"/>
          </p:nvPr>
        </p:nvSpPr>
        <p:spPr>
          <a:xfrm>
            <a:off x="9705552" y="6684122"/>
            <a:ext cx="21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ja-JP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5" name="Google Shape;165;p5"/>
          <p:cNvGrpSpPr/>
          <p:nvPr/>
        </p:nvGrpSpPr>
        <p:grpSpPr>
          <a:xfrm>
            <a:off x="197301" y="169894"/>
            <a:ext cx="576000" cy="576000"/>
            <a:chOff x="295350" y="259019"/>
            <a:chExt cx="614400" cy="614400"/>
          </a:xfrm>
        </p:grpSpPr>
        <p:sp>
          <p:nvSpPr>
            <p:cNvPr id="166" name="Google Shape;166;p5"/>
            <p:cNvSpPr/>
            <p:nvPr/>
          </p:nvSpPr>
          <p:spPr>
            <a:xfrm>
              <a:off x="295350" y="259019"/>
              <a:ext cx="614400" cy="614400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7" name="Google Shape;167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8" name="Google Shape;168;p5"/>
          <p:cNvSpPr txBox="1"/>
          <p:nvPr/>
        </p:nvSpPr>
        <p:spPr>
          <a:xfrm>
            <a:off x="72594" y="924720"/>
            <a:ext cx="97608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-JP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CVは指名系（中萬学院）が76件と引き続き最多で、次いでPMAX経由が45件でした。昨年比では指名系が+18件と伸びている一方、PMAX経由は-6件、リマケ経由は-11件と減少しています。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218783" y="2464116"/>
            <a:ext cx="314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キャンペーン月別結果</a:t>
            </a:r>
            <a:endParaRPr b="1" i="0" sz="18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7216420" y="6325594"/>
            <a:ext cx="272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-JP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緑：増加　赤：減少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985816"/>
            <a:ext cx="9601200" cy="2766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/>
          <p:nvPr/>
        </p:nvSpPr>
        <p:spPr>
          <a:xfrm>
            <a:off x="0" y="6698636"/>
            <a:ext cx="9906000" cy="166328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 txBox="1"/>
          <p:nvPr>
            <p:ph idx="12" type="sldNum"/>
          </p:nvPr>
        </p:nvSpPr>
        <p:spPr>
          <a:xfrm>
            <a:off x="9705552" y="6684122"/>
            <a:ext cx="21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ja-JP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773302" y="173655"/>
            <a:ext cx="9132698" cy="504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中萬学院、中高一貫　KW別結果</a:t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28948" y="901434"/>
            <a:ext cx="9906000" cy="14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-JP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中萬学院系では、中萬学院からのCV獲得が進みました。Yahooのシェア率は80%と高水準を維持しています。中高一貫は中高一貫校生塾で1件のCVを獲得しました。引き続き、これまでCV獲得があったキーワードを中心に展開を継続していきます。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183" name="Google Shape;183;p6"/>
          <p:cNvGrpSpPr/>
          <p:nvPr/>
        </p:nvGrpSpPr>
        <p:grpSpPr>
          <a:xfrm>
            <a:off x="197301" y="169894"/>
            <a:ext cx="576001" cy="576000"/>
            <a:chOff x="295350" y="259019"/>
            <a:chExt cx="614400" cy="614399"/>
          </a:xfrm>
        </p:grpSpPr>
        <p:sp>
          <p:nvSpPr>
            <p:cNvPr id="184" name="Google Shape;184;p6"/>
            <p:cNvSpPr/>
            <p:nvPr/>
          </p:nvSpPr>
          <p:spPr>
            <a:xfrm>
              <a:off x="295350" y="259019"/>
              <a:ext cx="614400" cy="614399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5" name="Google Shape;18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6" name="Google Shape;186;p6"/>
          <p:cNvSpPr txBox="1"/>
          <p:nvPr/>
        </p:nvSpPr>
        <p:spPr>
          <a:xfrm>
            <a:off x="197295" y="2051214"/>
            <a:ext cx="41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中萬学院</a:t>
            </a:r>
            <a:endParaRPr b="1" i="0" sz="18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4979700" y="2062818"/>
            <a:ext cx="439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中高一貫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850" y="2432125"/>
            <a:ext cx="9526291" cy="411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/>
          <p:nvPr/>
        </p:nvSpPr>
        <p:spPr>
          <a:xfrm>
            <a:off x="0" y="6698636"/>
            <a:ext cx="9906000" cy="166328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 txBox="1"/>
          <p:nvPr>
            <p:ph idx="12" type="sldNum"/>
          </p:nvPr>
        </p:nvSpPr>
        <p:spPr>
          <a:xfrm>
            <a:off x="9705552" y="6684122"/>
            <a:ext cx="21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ja-JP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773302" y="173655"/>
            <a:ext cx="9132698" cy="504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学校掛け合わせ、地名掛合せKW別結果</a:t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176400" y="954188"/>
            <a:ext cx="9553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-JP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学校掛け合わせでは平塚中等を中心に運用しましたが、CVは0件でした。地名掛け合わせについても、今月はCVは獲得されませんでした。引き続きCV確率の高いキーワードに絞って少額で運用を続けます。 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0" name="Google Shape;200;p7"/>
          <p:cNvGrpSpPr/>
          <p:nvPr/>
        </p:nvGrpSpPr>
        <p:grpSpPr>
          <a:xfrm>
            <a:off x="197301" y="169894"/>
            <a:ext cx="576001" cy="576000"/>
            <a:chOff x="295350" y="259019"/>
            <a:chExt cx="614400" cy="614399"/>
          </a:xfrm>
        </p:grpSpPr>
        <p:sp>
          <p:nvSpPr>
            <p:cNvPr id="201" name="Google Shape;201;p7"/>
            <p:cNvSpPr/>
            <p:nvPr/>
          </p:nvSpPr>
          <p:spPr>
            <a:xfrm>
              <a:off x="295350" y="259019"/>
              <a:ext cx="614400" cy="614399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2" name="Google Shape;202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3" name="Google Shape;203;p7"/>
          <p:cNvSpPr txBox="1"/>
          <p:nvPr/>
        </p:nvSpPr>
        <p:spPr>
          <a:xfrm>
            <a:off x="4882875" y="2135403"/>
            <a:ext cx="439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地名掛け合わせ</a:t>
            </a:r>
            <a:endParaRPr b="1" i="0" sz="18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61607" y="2122990"/>
            <a:ext cx="439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学校掛け合わせ</a:t>
            </a:r>
            <a:endParaRPr b="1" i="0" sz="18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601005"/>
            <a:ext cx="9601200" cy="3654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 txBox="1"/>
          <p:nvPr/>
        </p:nvSpPr>
        <p:spPr>
          <a:xfrm>
            <a:off x="19050" y="923875"/>
            <a:ext cx="9906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-JP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Googleはデマンドから</a:t>
            </a:r>
            <a:r>
              <a:rPr lang="ja-JP" sz="1700"/>
              <a:t>2</a:t>
            </a:r>
            <a:r>
              <a:rPr b="0" i="0" lang="ja-JP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件のCV獲得がありました。Yahooは中高一貫で</a:t>
            </a:r>
            <a:r>
              <a:rPr lang="ja-JP" sz="1700"/>
              <a:t>１件</a:t>
            </a:r>
            <a:r>
              <a:rPr b="0" i="0" lang="ja-JP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CV獲得（無料体験）がありましたが、その他のグループでは成果につながりませんでした。引き続き各グループの配分を調整しながらCV獲得を狙います。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0" y="6698636"/>
            <a:ext cx="9906000" cy="166328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 txBox="1"/>
          <p:nvPr>
            <p:ph idx="12" type="sldNum"/>
          </p:nvPr>
        </p:nvSpPr>
        <p:spPr>
          <a:xfrm>
            <a:off x="9488464" y="6698636"/>
            <a:ext cx="433088" cy="201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ja-JP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" name="Google Shape;215;p8"/>
          <p:cNvGrpSpPr/>
          <p:nvPr/>
        </p:nvGrpSpPr>
        <p:grpSpPr>
          <a:xfrm>
            <a:off x="197301" y="169894"/>
            <a:ext cx="576001" cy="576000"/>
            <a:chOff x="295350" y="259019"/>
            <a:chExt cx="614400" cy="614399"/>
          </a:xfrm>
        </p:grpSpPr>
        <p:sp>
          <p:nvSpPr>
            <p:cNvPr id="216" name="Google Shape;216;p8"/>
            <p:cNvSpPr/>
            <p:nvPr/>
          </p:nvSpPr>
          <p:spPr>
            <a:xfrm>
              <a:off x="295350" y="259019"/>
              <a:ext cx="614400" cy="614399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7" name="Google Shape;217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8"/>
          <p:cNvSpPr/>
          <p:nvPr/>
        </p:nvSpPr>
        <p:spPr>
          <a:xfrm>
            <a:off x="69524" y="6102129"/>
            <a:ext cx="8593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-JP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優先リスト：「flow/merit/form/qa/exp」を含むURLへ訪問3-7日以内のユーザー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-JP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除外設定済：24歳以下、65歳以上、神奈川県以外、セッション5以上、CV済ユーザー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 txBox="1"/>
          <p:nvPr/>
        </p:nvSpPr>
        <p:spPr>
          <a:xfrm>
            <a:off x="776535" y="173655"/>
            <a:ext cx="8932164" cy="504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リマーケティング/ディスプレイその他　グループ別結果(GDN/YDA)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8"/>
          <p:cNvPicPr preferRelativeResize="0"/>
          <p:nvPr/>
        </p:nvPicPr>
        <p:blipFill rotWithShape="1">
          <a:blip r:embed="rId4">
            <a:alphaModFix/>
          </a:blip>
          <a:srcRect b="51281" l="0" r="0" t="0"/>
          <a:stretch/>
        </p:blipFill>
        <p:spPr>
          <a:xfrm>
            <a:off x="8847758" y="2251960"/>
            <a:ext cx="857250" cy="58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6063" y="1801075"/>
            <a:ext cx="8180730" cy="416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g2f93b66ce31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100" y="2635722"/>
            <a:ext cx="6522321" cy="1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2f93b66ce31_0_12"/>
          <p:cNvSpPr/>
          <p:nvPr/>
        </p:nvSpPr>
        <p:spPr>
          <a:xfrm>
            <a:off x="0" y="6698636"/>
            <a:ext cx="9906000" cy="1662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2f93b66ce31_0_12"/>
          <p:cNvSpPr txBox="1"/>
          <p:nvPr>
            <p:ph idx="12" type="sldNum"/>
          </p:nvPr>
        </p:nvSpPr>
        <p:spPr>
          <a:xfrm>
            <a:off x="9488464" y="6698636"/>
            <a:ext cx="4332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30" name="Google Shape;230;g2f93b66ce31_0_12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2f93b66ce31_0_12"/>
          <p:cNvSpPr txBox="1"/>
          <p:nvPr/>
        </p:nvSpPr>
        <p:spPr>
          <a:xfrm>
            <a:off x="19050" y="908720"/>
            <a:ext cx="9906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-JP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テキスト広告は配信量こそ少ないものの、CVR25%と高い成果につながっています。イメージ画像とレスポンシブディスプレイは流入を獲得しているものの、CV獲得には至っていません。DG広告はクリック率2.12%と高く、2件のCVを獲得しています。 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2" name="Google Shape;232;g2f93b66ce31_0_12"/>
          <p:cNvGrpSpPr/>
          <p:nvPr/>
        </p:nvGrpSpPr>
        <p:grpSpPr>
          <a:xfrm>
            <a:off x="197301" y="169894"/>
            <a:ext cx="576000" cy="576000"/>
            <a:chOff x="295350" y="259019"/>
            <a:chExt cx="614400" cy="614400"/>
          </a:xfrm>
        </p:grpSpPr>
        <p:sp>
          <p:nvSpPr>
            <p:cNvPr id="233" name="Google Shape;233;g2f93b66ce31_0_12"/>
            <p:cNvSpPr/>
            <p:nvPr/>
          </p:nvSpPr>
          <p:spPr>
            <a:xfrm>
              <a:off x="295350" y="259019"/>
              <a:ext cx="614400" cy="614400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4" name="Google Shape;234;g2f93b66ce31_0_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5" name="Google Shape;235;g2f93b66ce31_0_12"/>
          <p:cNvSpPr txBox="1"/>
          <p:nvPr/>
        </p:nvSpPr>
        <p:spPr>
          <a:xfrm>
            <a:off x="776535" y="173655"/>
            <a:ext cx="89322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バナー種類別　詳細結果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2f93b66ce31_0_12"/>
          <p:cNvSpPr txBox="1"/>
          <p:nvPr/>
        </p:nvSpPr>
        <p:spPr>
          <a:xfrm>
            <a:off x="192527" y="2206967"/>
            <a:ext cx="439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広告タイプ別結果</a:t>
            </a:r>
            <a:endParaRPr b="1" i="0" sz="14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2f93b66ce31_0_12"/>
          <p:cNvSpPr txBox="1"/>
          <p:nvPr/>
        </p:nvSpPr>
        <p:spPr>
          <a:xfrm>
            <a:off x="7116476" y="2097750"/>
            <a:ext cx="150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体験学習バナー</a:t>
            </a:r>
            <a:endParaRPr b="1" i="0" sz="14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2f93b66ce31_0_12"/>
          <p:cNvSpPr txBox="1"/>
          <p:nvPr/>
        </p:nvSpPr>
        <p:spPr>
          <a:xfrm>
            <a:off x="8064665" y="4475149"/>
            <a:ext cx="142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公立中高一貫</a:t>
            </a:r>
            <a:endParaRPr b="1" i="0" sz="14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2f93b66ce31_0_12"/>
          <p:cNvSpPr txBox="1"/>
          <p:nvPr/>
        </p:nvSpPr>
        <p:spPr>
          <a:xfrm>
            <a:off x="254102" y="4515130"/>
            <a:ext cx="439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流入先別結果</a:t>
            </a:r>
            <a:endParaRPr b="1" i="0" sz="14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g2f93b66ce31_0_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7175" y="2539900"/>
            <a:ext cx="1129763" cy="94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g2f93b66ce31_0_12" title="ae147ba8f7b0096c1ba429ae8a2633e6.jp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46363" y="4787588"/>
            <a:ext cx="1660425" cy="138368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2f93b66ce31_0_12"/>
          <p:cNvSpPr txBox="1"/>
          <p:nvPr/>
        </p:nvSpPr>
        <p:spPr>
          <a:xfrm>
            <a:off x="186624" y="3628682"/>
            <a:ext cx="763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900" u="none" cap="none" strike="noStrike">
                <a:solidFill>
                  <a:srgbClr val="000000"/>
                </a:solidFill>
                <a:highlight>
                  <a:srgbClr val="F7F7F7"/>
                </a:highlight>
                <a:latin typeface="Meiryo"/>
                <a:ea typeface="Meiryo"/>
                <a:cs typeface="Meiryo"/>
                <a:sym typeface="Meiryo"/>
              </a:rPr>
              <a:t>DG広告</a:t>
            </a:r>
            <a:endParaRPr b="1" i="0" sz="900" u="none" cap="none" strike="noStrike">
              <a:solidFill>
                <a:srgbClr val="000000"/>
              </a:solidFill>
              <a:highlight>
                <a:srgbClr val="F7F7F7"/>
              </a:highlight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243" name="Google Shape;243;g2f93b66ce31_0_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4100" y="5094886"/>
            <a:ext cx="7426475" cy="900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2f93b66ce31_0_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42850" y="2539900"/>
            <a:ext cx="1129750" cy="941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e331d7859d_0_0"/>
          <p:cNvSpPr/>
          <p:nvPr/>
        </p:nvSpPr>
        <p:spPr>
          <a:xfrm>
            <a:off x="0" y="6698636"/>
            <a:ext cx="9906000" cy="1662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2e331d7859d_0_0"/>
          <p:cNvSpPr txBox="1"/>
          <p:nvPr>
            <p:ph idx="12" type="sldNum"/>
          </p:nvPr>
        </p:nvSpPr>
        <p:spPr>
          <a:xfrm>
            <a:off x="9488464" y="6698636"/>
            <a:ext cx="4332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ja-JP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2e331d7859d_0_0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2e331d7859d_0_0"/>
          <p:cNvSpPr txBox="1"/>
          <p:nvPr/>
        </p:nvSpPr>
        <p:spPr>
          <a:xfrm>
            <a:off x="0" y="939020"/>
            <a:ext cx="9906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-JP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-MAXからCV獲得は45件、CPAは4,298円でした。全体のCV数(125件)のうち3割以上をP-MAXが占めており、CVの獲得を大きく支えています。うち8割がQubo経由で、夏期講習や模試などの獲得が進みました。CTRも1.57%と高めで、引き続き好調に推移しています。 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4" name="Google Shape;254;g2e331d7859d_0_0"/>
          <p:cNvGrpSpPr/>
          <p:nvPr/>
        </p:nvGrpSpPr>
        <p:grpSpPr>
          <a:xfrm>
            <a:off x="197301" y="169894"/>
            <a:ext cx="576000" cy="576000"/>
            <a:chOff x="295350" y="259019"/>
            <a:chExt cx="614400" cy="614400"/>
          </a:xfrm>
        </p:grpSpPr>
        <p:sp>
          <p:nvSpPr>
            <p:cNvPr id="255" name="Google Shape;255;g2e331d7859d_0_0"/>
            <p:cNvSpPr/>
            <p:nvPr/>
          </p:nvSpPr>
          <p:spPr>
            <a:xfrm>
              <a:off x="295350" y="259019"/>
              <a:ext cx="614400" cy="614400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6" name="Google Shape;256;g2e331d7859d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7" name="Google Shape;257;g2e331d7859d_0_0"/>
          <p:cNvSpPr txBox="1"/>
          <p:nvPr/>
        </p:nvSpPr>
        <p:spPr>
          <a:xfrm>
            <a:off x="776535" y="173655"/>
            <a:ext cx="89322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P-MAX 配信結果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g2e331d7859d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452" y="3066102"/>
            <a:ext cx="1884100" cy="3048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2e331d7859d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3000" y="3099725"/>
            <a:ext cx="1884100" cy="298087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2e331d7859d_0_0"/>
          <p:cNvSpPr txBox="1"/>
          <p:nvPr/>
        </p:nvSpPr>
        <p:spPr>
          <a:xfrm>
            <a:off x="388950" y="2712175"/>
            <a:ext cx="20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-JP" sz="1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広告フォーマットの例</a:t>
            </a:r>
            <a:endParaRPr b="1" i="0" sz="1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g2e331d7859d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52421" y="3066100"/>
            <a:ext cx="1989704" cy="3239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2e331d7859d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07951" y="3085625"/>
            <a:ext cx="1884100" cy="29438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g2e331d7859d_0_0"/>
          <p:cNvGrpSpPr/>
          <p:nvPr/>
        </p:nvGrpSpPr>
        <p:grpSpPr>
          <a:xfrm>
            <a:off x="354025" y="2055061"/>
            <a:ext cx="9197950" cy="423975"/>
            <a:chOff x="342375" y="1997100"/>
            <a:chExt cx="9197950" cy="423975"/>
          </a:xfrm>
        </p:grpSpPr>
        <p:pic>
          <p:nvPicPr>
            <p:cNvPr id="264" name="Google Shape;264;g2e331d7859d_0_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42375" y="1997100"/>
              <a:ext cx="9197950" cy="423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g2e331d7859d_0_0"/>
            <p:cNvSpPr/>
            <p:nvPr/>
          </p:nvSpPr>
          <p:spPr>
            <a:xfrm>
              <a:off x="6468125" y="2025150"/>
              <a:ext cx="3029400" cy="36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"/>
          <p:cNvSpPr/>
          <p:nvPr/>
        </p:nvSpPr>
        <p:spPr>
          <a:xfrm>
            <a:off x="0" y="6698636"/>
            <a:ext cx="9906000" cy="166328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9"/>
          <p:cNvSpPr txBox="1"/>
          <p:nvPr>
            <p:ph idx="12" type="sldNum"/>
          </p:nvPr>
        </p:nvSpPr>
        <p:spPr>
          <a:xfrm>
            <a:off x="9488464" y="6698636"/>
            <a:ext cx="433088" cy="201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ja-JP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9"/>
          <p:cNvSpPr txBox="1"/>
          <p:nvPr/>
        </p:nvSpPr>
        <p:spPr>
          <a:xfrm>
            <a:off x="19050" y="908720"/>
            <a:ext cx="990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-JP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CPCは引き続き4円台の低単価で推移しており、CVは今月も発生していません。クリックが一番多かった教室は川崎です。教室ごとの配信量に偏りが出ないよう、引き続き予算調整を行っています。 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" name="Google Shape;275;p9"/>
          <p:cNvGrpSpPr/>
          <p:nvPr/>
        </p:nvGrpSpPr>
        <p:grpSpPr>
          <a:xfrm>
            <a:off x="197301" y="169894"/>
            <a:ext cx="576001" cy="576000"/>
            <a:chOff x="295350" y="259019"/>
            <a:chExt cx="614400" cy="614399"/>
          </a:xfrm>
        </p:grpSpPr>
        <p:sp>
          <p:nvSpPr>
            <p:cNvPr id="276" name="Google Shape;276;p9"/>
            <p:cNvSpPr/>
            <p:nvPr/>
          </p:nvSpPr>
          <p:spPr>
            <a:xfrm>
              <a:off x="295350" y="259019"/>
              <a:ext cx="614400" cy="614399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7" name="Google Shape;277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8" name="Google Shape;278;p9"/>
          <p:cNvSpPr txBox="1"/>
          <p:nvPr/>
        </p:nvSpPr>
        <p:spPr>
          <a:xfrm>
            <a:off x="776535" y="173655"/>
            <a:ext cx="8932164" cy="504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教室ページ流入特別施策結果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676720"/>
            <a:ext cx="8745906" cy="4869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7fba19d031_0_30"/>
          <p:cNvSpPr/>
          <p:nvPr/>
        </p:nvSpPr>
        <p:spPr>
          <a:xfrm>
            <a:off x="0" y="6698636"/>
            <a:ext cx="9906000" cy="1662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27fba19d031_0_30"/>
          <p:cNvSpPr txBox="1"/>
          <p:nvPr/>
        </p:nvSpPr>
        <p:spPr>
          <a:xfrm>
            <a:off x="7677150" y="6619225"/>
            <a:ext cx="2229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rial"/>
              <a:buNone/>
            </a:pPr>
            <a:fld id="{00000000-1234-1234-1234-123412341234}" type="slidenum">
              <a:rPr b="0" i="0" lang="ja-JP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27fba19d031_0_30"/>
          <p:cNvSpPr txBox="1"/>
          <p:nvPr/>
        </p:nvSpPr>
        <p:spPr>
          <a:xfrm>
            <a:off x="776535" y="173655"/>
            <a:ext cx="84969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Meta配信結果</a:t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7" name="Google Shape;287;g27fba19d031_0_30"/>
          <p:cNvGrpSpPr/>
          <p:nvPr/>
        </p:nvGrpSpPr>
        <p:grpSpPr>
          <a:xfrm>
            <a:off x="197301" y="169894"/>
            <a:ext cx="576000" cy="576000"/>
            <a:chOff x="295350" y="259019"/>
            <a:chExt cx="614400" cy="614400"/>
          </a:xfrm>
        </p:grpSpPr>
        <p:sp>
          <p:nvSpPr>
            <p:cNvPr id="288" name="Google Shape;288;g27fba19d031_0_30"/>
            <p:cNvSpPr/>
            <p:nvPr/>
          </p:nvSpPr>
          <p:spPr>
            <a:xfrm>
              <a:off x="295350" y="259019"/>
              <a:ext cx="614400" cy="614400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9" name="Google Shape;289;g27fba19d031_0_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0" name="Google Shape;290;g27fba19d031_0_30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27fba19d031_0_30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27fba19d031_0_30"/>
          <p:cNvSpPr txBox="1"/>
          <p:nvPr/>
        </p:nvSpPr>
        <p:spPr>
          <a:xfrm>
            <a:off x="237325" y="2341499"/>
            <a:ext cx="1910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-JP" sz="17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英検</a:t>
            </a:r>
            <a:endParaRPr b="1" i="0" sz="17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27fba19d031_0_30"/>
          <p:cNvSpPr txBox="1"/>
          <p:nvPr/>
        </p:nvSpPr>
        <p:spPr>
          <a:xfrm>
            <a:off x="128475" y="890725"/>
            <a:ext cx="97776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-JP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英検バナーでは、「英検に強い中萬学院」オレンジから15件、「英検対策」黄色から5件、「英検対策」ピンクから2件、「英検に強い中萬学院」ピンクから2件、「2,222名合格」から2件、「英検対策」緑から1件の獲得になりました。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-JP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MetaでのCPAは¥1,467です。好調でした。プレテスト系は配信が進まず、CV獲得には至っていません。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g27fba19d031_0_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6712" y="2368300"/>
            <a:ext cx="6896518" cy="427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4826ca313d_2_16"/>
          <p:cNvSpPr/>
          <p:nvPr/>
        </p:nvSpPr>
        <p:spPr>
          <a:xfrm>
            <a:off x="0" y="6698636"/>
            <a:ext cx="9906000" cy="1662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4826ca313d_2_16"/>
          <p:cNvSpPr txBox="1"/>
          <p:nvPr/>
        </p:nvSpPr>
        <p:spPr>
          <a:xfrm>
            <a:off x="7677150" y="6619225"/>
            <a:ext cx="2229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rial"/>
              <a:buNone/>
            </a:pPr>
            <a:fld id="{00000000-1234-1234-1234-123412341234}" type="slidenum">
              <a:rPr b="0" i="0" lang="ja-JP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4826ca313d_2_16"/>
          <p:cNvSpPr txBox="1"/>
          <p:nvPr/>
        </p:nvSpPr>
        <p:spPr>
          <a:xfrm>
            <a:off x="776535" y="173655"/>
            <a:ext cx="84969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Microsoft配信結果</a:t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2" name="Google Shape;302;g34826ca313d_2_16"/>
          <p:cNvGrpSpPr/>
          <p:nvPr/>
        </p:nvGrpSpPr>
        <p:grpSpPr>
          <a:xfrm>
            <a:off x="197301" y="169894"/>
            <a:ext cx="576000" cy="576000"/>
            <a:chOff x="295350" y="259019"/>
            <a:chExt cx="614400" cy="614400"/>
          </a:xfrm>
        </p:grpSpPr>
        <p:sp>
          <p:nvSpPr>
            <p:cNvPr id="303" name="Google Shape;303;g34826ca313d_2_16"/>
            <p:cNvSpPr/>
            <p:nvPr/>
          </p:nvSpPr>
          <p:spPr>
            <a:xfrm>
              <a:off x="295350" y="259019"/>
              <a:ext cx="614400" cy="614400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4" name="Google Shape;304;g34826ca313d_2_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5" name="Google Shape;305;g34826ca313d_2_16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4826ca313d_2_16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4826ca313d_2_16"/>
          <p:cNvSpPr txBox="1"/>
          <p:nvPr/>
        </p:nvSpPr>
        <p:spPr>
          <a:xfrm>
            <a:off x="128475" y="890725"/>
            <a:ext cx="9777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-JP" sz="17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Microsoft広告は少額での運用となっております。</a:t>
            </a:r>
            <a:endParaRPr b="0" i="0" sz="17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-JP" sz="17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指名検索のみでの配信とし、CPC69円と低単価を維持しております。</a:t>
            </a:r>
            <a:endParaRPr b="0" i="0" sz="17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-JP" sz="17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CVは</a:t>
            </a:r>
            <a:r>
              <a:rPr lang="ja-JP" sz="1700">
                <a:latin typeface="Meiryo"/>
                <a:ea typeface="Meiryo"/>
                <a:cs typeface="Meiryo"/>
                <a:sym typeface="Meiryo"/>
              </a:rPr>
              <a:t>4</a:t>
            </a:r>
            <a:r>
              <a:rPr b="0" i="0" lang="ja-JP" sz="17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件獲得できており、少額運用でも効果が出ています。今後も継続してまいります。 </a:t>
            </a:r>
            <a:endParaRPr b="0" i="0" sz="17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308" name="Google Shape;308;g34826ca313d_2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950" y="2337775"/>
            <a:ext cx="840105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4"/>
          <p:cNvSpPr/>
          <p:nvPr/>
        </p:nvSpPr>
        <p:spPr>
          <a:xfrm>
            <a:off x="0" y="6698636"/>
            <a:ext cx="9906000" cy="1662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4"/>
          <p:cNvSpPr txBox="1"/>
          <p:nvPr/>
        </p:nvSpPr>
        <p:spPr>
          <a:xfrm>
            <a:off x="7677150" y="6619225"/>
            <a:ext cx="2229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rial"/>
              <a:buNone/>
            </a:pPr>
            <a:fld id="{00000000-1234-1234-1234-123412341234}" type="slidenum">
              <a:rPr b="0" i="0" lang="ja-JP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4"/>
          <p:cNvSpPr txBox="1"/>
          <p:nvPr/>
        </p:nvSpPr>
        <p:spPr>
          <a:xfrm>
            <a:off x="776535" y="173655"/>
            <a:ext cx="84969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今後の予算方針のご確認（昨年比データ）</a:t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" name="Google Shape;316;p24"/>
          <p:cNvGrpSpPr/>
          <p:nvPr/>
        </p:nvGrpSpPr>
        <p:grpSpPr>
          <a:xfrm>
            <a:off x="197301" y="169894"/>
            <a:ext cx="576000" cy="576000"/>
            <a:chOff x="295350" y="259019"/>
            <a:chExt cx="614400" cy="614400"/>
          </a:xfrm>
        </p:grpSpPr>
        <p:sp>
          <p:nvSpPr>
            <p:cNvPr id="317" name="Google Shape;317;p24"/>
            <p:cNvSpPr/>
            <p:nvPr/>
          </p:nvSpPr>
          <p:spPr>
            <a:xfrm>
              <a:off x="295350" y="259019"/>
              <a:ext cx="614400" cy="614400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8" name="Google Shape;318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9" name="Google Shape;319;p24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 txBox="1"/>
          <p:nvPr/>
        </p:nvSpPr>
        <p:spPr>
          <a:xfrm>
            <a:off x="2797675" y="2569900"/>
            <a:ext cx="86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6</a:t>
            </a:r>
            <a:r>
              <a:rPr b="0" i="0" lang="ja-JP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月</a:t>
            </a:r>
            <a:endParaRPr b="0" i="0" sz="18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22" name="Google Shape;322;p24"/>
          <p:cNvSpPr txBox="1"/>
          <p:nvPr/>
        </p:nvSpPr>
        <p:spPr>
          <a:xfrm>
            <a:off x="776535" y="1770771"/>
            <a:ext cx="648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-JP" sz="16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CV：資料請求＋体験授業+qubo</a:t>
            </a:r>
            <a:endParaRPr b="0" i="0" sz="16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23" name="Google Shape;323;p24"/>
          <p:cNvSpPr txBox="1"/>
          <p:nvPr/>
        </p:nvSpPr>
        <p:spPr>
          <a:xfrm>
            <a:off x="116440" y="956361"/>
            <a:ext cx="974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ja-JP" sz="17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7月は均等に配信していきます。</a:t>
            </a:r>
            <a:endParaRPr b="0" i="0" sz="17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24" name="Google Shape;324;p24"/>
          <p:cNvSpPr txBox="1"/>
          <p:nvPr/>
        </p:nvSpPr>
        <p:spPr>
          <a:xfrm>
            <a:off x="4837138" y="2569900"/>
            <a:ext cx="86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7</a:t>
            </a:r>
            <a:r>
              <a:rPr b="0" i="0" lang="ja-JP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月</a:t>
            </a:r>
            <a:endParaRPr b="0" i="0" sz="18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325" name="Google Shape;32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17172" y="2989536"/>
            <a:ext cx="792628" cy="78401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4"/>
          <p:cNvSpPr txBox="1"/>
          <p:nvPr/>
        </p:nvSpPr>
        <p:spPr>
          <a:xfrm>
            <a:off x="6876625" y="2569900"/>
            <a:ext cx="86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8</a:t>
            </a:r>
            <a:r>
              <a:rPr b="0" i="0" lang="ja-JP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月</a:t>
            </a:r>
            <a:endParaRPr b="0" i="0" sz="18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327" name="Google Shape;32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5463" y="2989525"/>
            <a:ext cx="7906025" cy="331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​​テーマ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TOSHIBA</dc:creator>
</cp:coreProperties>
</file>