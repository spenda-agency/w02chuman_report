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906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hI+lPGPQ3pzGRImzovuFQyYfW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ja-JP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93b66ce31_0_12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f93b66ce31_0_12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2f93b66ce31_0_12:notes"/>
          <p:cNvSpPr txBox="1"/>
          <p:nvPr>
            <p:ph idx="12" type="sldNum"/>
          </p:nvPr>
        </p:nvSpPr>
        <p:spPr>
          <a:xfrm>
            <a:off x="4023992" y="9721106"/>
            <a:ext cx="30783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331d7859d_0_0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2e331d7859d_0_0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2e331d7859d_0_0:notes"/>
          <p:cNvSpPr txBox="1"/>
          <p:nvPr>
            <p:ph idx="12" type="sldNum"/>
          </p:nvPr>
        </p:nvSpPr>
        <p:spPr>
          <a:xfrm>
            <a:off x="4023992" y="9721106"/>
            <a:ext cx="30783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75" spcFirstLastPara="1" rIns="99075" wrap="square" tIns="495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fba19d031_0_30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27fba19d031_0_30:notes"/>
          <p:cNvSpPr/>
          <p:nvPr>
            <p:ph idx="2" type="sldImg"/>
          </p:nvPr>
        </p:nvSpPr>
        <p:spPr>
          <a:xfrm>
            <a:off x="781050" y="768350"/>
            <a:ext cx="554196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826ca313d_2_16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4826ca313d_2_16:notes"/>
          <p:cNvSpPr/>
          <p:nvPr>
            <p:ph idx="2" type="sldImg"/>
          </p:nvPr>
        </p:nvSpPr>
        <p:spPr>
          <a:xfrm>
            <a:off x="781050" y="768350"/>
            <a:ext cx="5541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 txBox="1"/>
          <p:nvPr>
            <p:ph idx="1" type="body"/>
          </p:nvPr>
        </p:nvSpPr>
        <p:spPr>
          <a:xfrm>
            <a:off x="710407" y="4861441"/>
            <a:ext cx="56832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75" spcFirstLastPara="1" rIns="99075" wrap="square" tIns="49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24:notes"/>
          <p:cNvSpPr/>
          <p:nvPr>
            <p:ph idx="2" type="sldImg"/>
          </p:nvPr>
        </p:nvSpPr>
        <p:spPr>
          <a:xfrm>
            <a:off x="781050" y="768350"/>
            <a:ext cx="5541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プレースホルダなし">
  <p:cSld name=" プレースホルダなし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7"/>
          <p:cNvSpPr txBox="1"/>
          <p:nvPr>
            <p:ph idx="3" type="body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7"/>
          <p:cNvSpPr txBox="1"/>
          <p:nvPr>
            <p:ph idx="4" type="body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/>
          <p:nvPr>
            <p:ph idx="2" type="pic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 rot="5400000">
            <a:off x="2690018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縦書きテキスト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 rot="5400000">
            <a:off x="5370512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 rot="5400000">
            <a:off x="830262" y="-60323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11.jp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506506" y="620688"/>
            <a:ext cx="9023610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-JP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中萬学院　広報室　御中</a:t>
            </a:r>
            <a:endParaRPr b="0" i="0" sz="3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71241" y="1584783"/>
            <a:ext cx="9023610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ja-JP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lang="ja-JP" sz="3600">
                <a:solidFill>
                  <a:srgbClr val="002060"/>
                </a:solidFill>
              </a:rPr>
              <a:t>2</a:t>
            </a:r>
            <a:r>
              <a:rPr b="0" i="0" lang="ja-JP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月分有料広告報告書</a:t>
            </a:r>
            <a:endParaRPr b="0" i="0" sz="3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122032" y="5229200"/>
            <a:ext cx="4029408" cy="10506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システム・アシスト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SPENDA</a:t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208584" y="3215452"/>
            <a:ext cx="6718720" cy="14826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1. 昨年度との比較結果</a:t>
            </a:r>
            <a:endParaRPr b="0" i="0" sz="3200" u="none" cap="none" strike="noStrike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ja-JP" sz="3200" u="none" cap="none" strike="noStrike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2. 詳細結果と改善施策</a:t>
            </a:r>
            <a:endParaRPr b="0" i="0" sz="3200" u="none" cap="none" strike="noStrike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-8736" y="0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675" y="2544651"/>
            <a:ext cx="9265055" cy="35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26686" y="2137194"/>
            <a:ext cx="253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-JP" sz="2000" u="sng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有料広告全体</a:t>
            </a:r>
            <a:endParaRPr b="0" i="0" sz="2000" u="sng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26676" y="3737006"/>
            <a:ext cx="28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-JP" sz="2000" u="sng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Google,Yahoo別</a:t>
            </a:r>
            <a:endParaRPr b="0" i="0" sz="2000" u="sng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776535" y="200543"/>
            <a:ext cx="9129465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全体結果、過去同月との比較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11" name="Google Shape;111;p2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2" name="Google Shape;112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2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" y="890723"/>
            <a:ext cx="9906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Google, Yahoo!の全体CPAは5,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286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円でした。昨年のCPA4,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627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円は、Yahoo!のCV計測にミスがあったため参考値です。直近2年と比較すると、流入を大きく伸ばしている一方で、CVRが下がっています。CPCが下がっているためCPAも減少できています。YDAの教室特別施策の流入数が大きいもののCV数が伴っていないため、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教室ごとの予算配分を見直して対応いたします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5434416" y="6143858"/>
            <a:ext cx="4054048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※レポート作成時の比較（翌月2日前後）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※Instagram/Microsoft広告分は除く</a:t>
            </a:r>
            <a:endParaRPr b="0" i="0" sz="14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>
            <p:ph idx="12" type="sldNum"/>
          </p:nvPr>
        </p:nvSpPr>
        <p:spPr>
          <a:xfrm>
            <a:off x="9705552" y="6673947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55800" y="905626"/>
            <a:ext cx="979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昨月比ではGoogleのP-MAXが伸びました。指名検索で取りこぼしている層をカバーして伸びています。Yahoo!検索広告は指名経由で伸びていますので、引き続き少額での運用を継続します。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ディスプレイ経由は直近数か月で数件ずつの発生です。配信面の見直しも含めて調整します。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24" name="Google Shape;124;p3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25" name="Google Shape;125;p3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" name="Google Shape;12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3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媒体/デバイス/検索ディスプレイ別結果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3275" y="2761700"/>
            <a:ext cx="862725" cy="73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0875" y="4957300"/>
            <a:ext cx="862725" cy="893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935226"/>
            <a:ext cx="8738475" cy="4509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1701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CV種類の月次推移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27296" y="996977"/>
            <a:ext cx="990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CVはQubo経由が多く、次いで資料請求、体験学習の順でした。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冬期講習の募集が差し迫るにつれて、体験学習や資料請求が伸びています。1月はQubo以外での獲得が増えるよう、引き続き調整を行います。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43" name="Google Shape;143;p4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4" name="Google Shape;14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5" name="Google Shape;1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6150" y="2590800"/>
            <a:ext cx="7429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26577"/>
            <a:ext cx="8721351" cy="4108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08275"/>
            <a:ext cx="9601200" cy="257287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773302" y="173655"/>
            <a:ext cx="84345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キャンペーン別CV数結果 (chuman.jp)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5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158" name="Google Shape;158;p5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5"/>
          <p:cNvSpPr txBox="1"/>
          <p:nvPr/>
        </p:nvSpPr>
        <p:spPr>
          <a:xfrm>
            <a:off x="7216420" y="6325594"/>
            <a:ext cx="272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ja-JP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緑：増加　赤：減少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2594" y="924720"/>
            <a:ext cx="9760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昨年と比較すると、指名検索のCVが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12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件マイナスとなりましたが、P-MAX経由CVが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18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件プラスとなっています。リターゲティング経由は減少しています。他キャンペーンは効率が悪いため予算を下げています。その分過去CV発生キーワードに絞った運用をしており、CV獲得はありました。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218783" y="2464116"/>
            <a:ext cx="314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キャンペーン月別結果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7995249" y="2883330"/>
            <a:ext cx="83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ja-JP" sz="1100" u="none" cap="none" strike="noStrike">
                <a:solidFill>
                  <a:schemeClr val="dk1"/>
                </a:solidFill>
                <a:highlight>
                  <a:srgbClr val="EBF4FF"/>
                </a:highlight>
                <a:latin typeface="Arial"/>
                <a:ea typeface="Arial"/>
                <a:cs typeface="Arial"/>
                <a:sym typeface="Arial"/>
              </a:rPr>
              <a:t>昨年比</a:t>
            </a:r>
            <a:endParaRPr b="1" i="0" sz="1100" u="none" cap="none" strike="noStrike">
              <a:solidFill>
                <a:schemeClr val="dk1"/>
              </a:solidFill>
              <a:highlight>
                <a:srgbClr val="EBF4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中萬学院、中高一貫　KW別結果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28948" y="901434"/>
            <a:ext cx="9906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「中萬学院」系では、「中萬学院」からのCV獲得が進みました。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Googleのシェア率が落ち込んでいますが、冬期講習需要で他サイトが予算をかけている影響です。Yahooではシェア率が95%と問題ありませんでした。</a:t>
            </a: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また、「中高一貫」は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CVがありませんでした</a:t>
            </a: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過去CV発生KWに寄せて少額運用を続け、CV獲得を狙います。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75" name="Google Shape;175;p6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76" name="Google Shape;176;p6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6"/>
          <p:cNvSpPr txBox="1"/>
          <p:nvPr/>
        </p:nvSpPr>
        <p:spPr>
          <a:xfrm>
            <a:off x="449145" y="2062814"/>
            <a:ext cx="41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中萬学院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979700" y="2062818"/>
            <a:ext cx="43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中高一貫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300" y="2388726"/>
            <a:ext cx="9174999" cy="418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>
            <p:ph idx="12" type="sldNum"/>
          </p:nvPr>
        </p:nvSpPr>
        <p:spPr>
          <a:xfrm>
            <a:off x="9705552" y="6684122"/>
            <a:ext cx="216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73302" y="173655"/>
            <a:ext cx="9132698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学校掛け合わせ、地名掛合せKW別結果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176400" y="954188"/>
            <a:ext cx="9553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「学校掛け合わせ」では「平塚中等」からCVが獲得できました。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11月から続き、2か月連続での獲得です。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「地名掛け合わせ」は「受験 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戸塚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」「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塾 愛甲石田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」からのCVがありました。両キャンペーンとも、CV発生KWに寄せて少額でもCV獲得が進むように調整をしています。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92" name="Google Shape;192;p7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193" name="Google Shape;193;p7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4" name="Google Shape;19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7"/>
          <p:cNvSpPr txBox="1"/>
          <p:nvPr/>
        </p:nvSpPr>
        <p:spPr>
          <a:xfrm>
            <a:off x="4953000" y="2122990"/>
            <a:ext cx="43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地名掛け合わせ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61607" y="2122990"/>
            <a:ext cx="43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学校掛け合わせ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44690"/>
            <a:ext cx="9024238" cy="3887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/>
        </p:nvSpPr>
        <p:spPr>
          <a:xfrm>
            <a:off x="19050" y="923875"/>
            <a:ext cx="990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昨年は優先リストからのQubo申し込みが進んでいました。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優先リストへ予算を多く配分しています。これから中高一貫が伸びてくる時期に入るため、1月以降は多くなるよう調整します。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>
            <p:ph idx="12" type="sldNum"/>
          </p:nvPr>
        </p:nvSpPr>
        <p:spPr>
          <a:xfrm>
            <a:off x="9488464" y="6698636"/>
            <a:ext cx="433088" cy="201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8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208" name="Google Shape;208;p8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9" name="Google Shape;20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8"/>
          <p:cNvSpPr/>
          <p:nvPr/>
        </p:nvSpPr>
        <p:spPr>
          <a:xfrm>
            <a:off x="69524" y="6116154"/>
            <a:ext cx="8593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優先リスト：「flow/merit/form/qa/exp」を含むURLへ訪問3-7日以内のユーザー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除外設定済：24歳以下、65歳以上、神奈川県以外、セッション5以上、CV済ユーザー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776535" y="173655"/>
            <a:ext cx="8932164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リマーケティング/ディスプレイその他　グループ別結果(GDN/YDA)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4">
            <a:alphaModFix/>
          </a:blip>
          <a:srcRect b="51281" l="0" r="0" t="0"/>
          <a:stretch/>
        </p:blipFill>
        <p:spPr>
          <a:xfrm>
            <a:off x="8847758" y="2251960"/>
            <a:ext cx="857250" cy="5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691875"/>
            <a:ext cx="8405062" cy="427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f93b66ce31_0_12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f93b66ce31_0_12"/>
          <p:cNvSpPr txBox="1"/>
          <p:nvPr>
            <p:ph idx="12" type="sldNum"/>
          </p:nvPr>
        </p:nvSpPr>
        <p:spPr>
          <a:xfrm>
            <a:off x="9488464" y="6698636"/>
            <a:ext cx="433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21" name="Google Shape;221;g2f93b66ce31_0_12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f93b66ce31_0_12"/>
          <p:cNvSpPr txBox="1"/>
          <p:nvPr/>
        </p:nvSpPr>
        <p:spPr>
          <a:xfrm>
            <a:off x="19050" y="908720"/>
            <a:ext cx="990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前半は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冬期講習LPへ流入を、後半は体験学習ページへの流入を強化するようにいたしました。</a:t>
            </a:r>
            <a:endParaRPr sz="17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CVは冬期講習LPから発生しています。冬期講習開始後には、体験学習ページのバナーのみで配信を行っています。</a:t>
            </a:r>
            <a:endParaRPr sz="17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23" name="Google Shape;223;g2f93b66ce31_0_12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224" name="Google Shape;224;g2f93b66ce31_0_12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" name="Google Shape;225;g2f93b66ce31_0_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g2f93b66ce31_0_12"/>
          <p:cNvSpPr txBox="1"/>
          <p:nvPr/>
        </p:nvSpPr>
        <p:spPr>
          <a:xfrm>
            <a:off x="776535" y="173655"/>
            <a:ext cx="8932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バナー種類別　詳細結果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2f93b66ce31_0_12"/>
          <p:cNvSpPr txBox="1"/>
          <p:nvPr/>
        </p:nvSpPr>
        <p:spPr>
          <a:xfrm>
            <a:off x="192527" y="2206967"/>
            <a:ext cx="43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広告タイプ別結果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2f93b66ce31_0_12"/>
          <p:cNvSpPr txBox="1"/>
          <p:nvPr/>
        </p:nvSpPr>
        <p:spPr>
          <a:xfrm>
            <a:off x="7116476" y="2097750"/>
            <a:ext cx="150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体験学習バナー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2f93b66ce31_0_12"/>
          <p:cNvSpPr txBox="1"/>
          <p:nvPr/>
        </p:nvSpPr>
        <p:spPr>
          <a:xfrm>
            <a:off x="8064665" y="4475149"/>
            <a:ext cx="142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公立中高一貫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2f93b66ce31_0_12"/>
          <p:cNvSpPr txBox="1"/>
          <p:nvPr/>
        </p:nvSpPr>
        <p:spPr>
          <a:xfrm>
            <a:off x="254102" y="4515130"/>
            <a:ext cx="439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流入先別結果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2f93b66ce31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2537" y="4907850"/>
            <a:ext cx="110808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2f93b66ce31_0_12" title="764678845504200699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5157" y="2522669"/>
            <a:ext cx="1739294" cy="145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2f93b66ce31_0_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0308" y="2514782"/>
            <a:ext cx="1739293" cy="144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2f93b66ce31_0_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399" y="2521875"/>
            <a:ext cx="5753894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2f93b66ce31_0_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4975330"/>
            <a:ext cx="7917737" cy="1226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e331d7859d_0_0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2e331d7859d_0_0"/>
          <p:cNvSpPr txBox="1"/>
          <p:nvPr>
            <p:ph idx="12" type="sldNum"/>
          </p:nvPr>
        </p:nvSpPr>
        <p:spPr>
          <a:xfrm>
            <a:off x="9488464" y="6698636"/>
            <a:ext cx="433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e331d7859d_0_0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2e331d7859d_0_0"/>
          <p:cNvSpPr txBox="1"/>
          <p:nvPr/>
        </p:nvSpPr>
        <p:spPr>
          <a:xfrm>
            <a:off x="0" y="939020"/>
            <a:ext cx="990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P-MAXからCV獲得は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45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件、CPAは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4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,</a:t>
            </a: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060</a:t>
            </a: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円でした。Google指名検索の取りこぼしをP-MAXでカバーしています。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45" name="Google Shape;245;g2e331d7859d_0_0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246" name="Google Shape;246;g2e331d7859d_0_0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7" name="Google Shape;247;g2e331d7859d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g2e331d7859d_0_0"/>
          <p:cNvSpPr txBox="1"/>
          <p:nvPr/>
        </p:nvSpPr>
        <p:spPr>
          <a:xfrm>
            <a:off x="776535" y="173655"/>
            <a:ext cx="89322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P-MAX 配信結果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2e331d7859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452" y="3066102"/>
            <a:ext cx="1884100" cy="304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2e331d7859d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0" y="3099725"/>
            <a:ext cx="1884100" cy="2980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2e331d7859d_0_0"/>
          <p:cNvSpPr txBox="1"/>
          <p:nvPr/>
        </p:nvSpPr>
        <p:spPr>
          <a:xfrm>
            <a:off x="388950" y="2712175"/>
            <a:ext cx="20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-JP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広告フォーマットの例</a:t>
            </a:r>
            <a:endParaRPr b="1" i="0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g2e331d7859d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2421" y="3066100"/>
            <a:ext cx="1989704" cy="323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2e331d7859d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7951" y="3085625"/>
            <a:ext cx="1884100" cy="294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2e331d7859d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1707020"/>
            <a:ext cx="9601199" cy="49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/>
          <p:nvPr/>
        </p:nvSpPr>
        <p:spPr>
          <a:xfrm>
            <a:off x="0" y="6698636"/>
            <a:ext cx="9906000" cy="16632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>
            <p:ph idx="12" type="sldNum"/>
          </p:nvPr>
        </p:nvSpPr>
        <p:spPr>
          <a:xfrm>
            <a:off x="9488464" y="6698636"/>
            <a:ext cx="433088" cy="201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ja-JP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19050" y="908720"/>
            <a:ext cx="990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CPCは3円と、引き続き低単価で配信されました。CVはありませんでした。</a:t>
            </a:r>
            <a:endParaRPr sz="17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7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川崎など一部教室に流入が寄りましたがCVがなかったため、教室ごとに均等になるよう調整をいたします。</a:t>
            </a:r>
            <a:endParaRPr sz="17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64" name="Google Shape;264;p9"/>
          <p:cNvGrpSpPr/>
          <p:nvPr/>
        </p:nvGrpSpPr>
        <p:grpSpPr>
          <a:xfrm>
            <a:off x="197301" y="169894"/>
            <a:ext cx="576001" cy="576000"/>
            <a:chOff x="295350" y="259019"/>
            <a:chExt cx="614400" cy="614399"/>
          </a:xfrm>
        </p:grpSpPr>
        <p:sp>
          <p:nvSpPr>
            <p:cNvPr id="265" name="Google Shape;265;p9"/>
            <p:cNvSpPr/>
            <p:nvPr/>
          </p:nvSpPr>
          <p:spPr>
            <a:xfrm>
              <a:off x="295350" y="259019"/>
              <a:ext cx="614400" cy="614399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9"/>
          <p:cNvSpPr txBox="1"/>
          <p:nvPr/>
        </p:nvSpPr>
        <p:spPr>
          <a:xfrm>
            <a:off x="776535" y="173655"/>
            <a:ext cx="8932164" cy="504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教室ページ流入特別施策結果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31496"/>
            <a:ext cx="8797037" cy="486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fba19d031_0_30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27fba19d031_0_30"/>
          <p:cNvSpPr txBox="1"/>
          <p:nvPr/>
        </p:nvSpPr>
        <p:spPr>
          <a:xfrm>
            <a:off x="7677150" y="6619225"/>
            <a:ext cx="2229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None/>
            </a:pPr>
            <a:fld id="{00000000-1234-1234-1234-123412341234}" type="slidenum">
              <a:rPr b="0" i="0" lang="ja-JP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7fba19d031_0_30"/>
          <p:cNvSpPr txBox="1"/>
          <p:nvPr/>
        </p:nvSpPr>
        <p:spPr>
          <a:xfrm>
            <a:off x="776535" y="173655"/>
            <a:ext cx="8496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Meta配信結果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" name="Google Shape;276;g27fba19d031_0_30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277" name="Google Shape;277;g27fba19d031_0_30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8" name="Google Shape;278;g27fba19d031_0_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g27fba19d031_0_30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27fba19d031_0_30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27fba19d031_0_30"/>
          <p:cNvSpPr txBox="1"/>
          <p:nvPr/>
        </p:nvSpPr>
        <p:spPr>
          <a:xfrm>
            <a:off x="237325" y="2015113"/>
            <a:ext cx="191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ja-JP" sz="1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英検</a:t>
            </a:r>
            <a:endParaRPr b="1" i="0" sz="17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27fba19d031_0_30"/>
          <p:cNvSpPr txBox="1"/>
          <p:nvPr/>
        </p:nvSpPr>
        <p:spPr>
          <a:xfrm>
            <a:off x="128475" y="890725"/>
            <a:ext cx="977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英検バナーでは、「英検に強い」ピンク色から19件、「英検対策」緑色から1件の獲得になりました。英検バナーでのCPAは¥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2</a:t>
            </a: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,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507</a:t>
            </a: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です。非常に好調でした。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83" name="Google Shape;283;g27fba19d031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50" y="2461526"/>
            <a:ext cx="8328916" cy="415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826ca313d_2_16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4826ca313d_2_16"/>
          <p:cNvSpPr txBox="1"/>
          <p:nvPr/>
        </p:nvSpPr>
        <p:spPr>
          <a:xfrm>
            <a:off x="7677150" y="6619225"/>
            <a:ext cx="2229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None/>
            </a:pPr>
            <a:fld id="{00000000-1234-1234-1234-123412341234}" type="slidenum">
              <a:rPr b="0" i="0" lang="ja-JP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4826ca313d_2_16"/>
          <p:cNvSpPr txBox="1"/>
          <p:nvPr/>
        </p:nvSpPr>
        <p:spPr>
          <a:xfrm>
            <a:off x="776535" y="173655"/>
            <a:ext cx="8496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Microsoft配信結果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g34826ca313d_2_16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292" name="Google Shape;292;g34826ca313d_2_16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" name="Google Shape;293;g34826ca313d_2_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g34826ca313d_2_1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4826ca313d_2_16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4826ca313d_2_16"/>
          <p:cNvSpPr txBox="1"/>
          <p:nvPr/>
        </p:nvSpPr>
        <p:spPr>
          <a:xfrm>
            <a:off x="128475" y="890725"/>
            <a:ext cx="9777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Microsoft広告を少額で運用しています。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指名検索のみ展開しておりCPC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81</a:t>
            </a: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円と安価です。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直接のCVは</a:t>
            </a:r>
            <a:r>
              <a:rPr lang="ja-JP" sz="1700"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b="0" i="0" lang="ja-JP" sz="17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件発生しており、効果は確認できています。引き続き少額での継続を実施します。</a:t>
            </a:r>
            <a:endParaRPr b="0" i="0" sz="1700" u="none" cap="none" strike="noStrik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97" name="Google Shape;297;g34826ca313d_2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13" y="2566675"/>
            <a:ext cx="83915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/>
          <p:nvPr/>
        </p:nvSpPr>
        <p:spPr>
          <a:xfrm>
            <a:off x="0" y="6698636"/>
            <a:ext cx="9906000" cy="1662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7677150" y="6619225"/>
            <a:ext cx="2229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None/>
            </a:pPr>
            <a:fld id="{00000000-1234-1234-1234-123412341234}" type="slidenum">
              <a:rPr b="0" i="0" lang="ja-JP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776535" y="173655"/>
            <a:ext cx="84969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今後の予算方針のご確認（昨年比データ）</a:t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24"/>
          <p:cNvGrpSpPr/>
          <p:nvPr/>
        </p:nvGrpSpPr>
        <p:grpSpPr>
          <a:xfrm>
            <a:off x="197301" y="169894"/>
            <a:ext cx="576000" cy="576000"/>
            <a:chOff x="295350" y="259019"/>
            <a:chExt cx="614400" cy="614400"/>
          </a:xfrm>
        </p:grpSpPr>
        <p:sp>
          <p:nvSpPr>
            <p:cNvPr id="306" name="Google Shape;306;p24"/>
            <p:cNvSpPr/>
            <p:nvPr/>
          </p:nvSpPr>
          <p:spPr>
            <a:xfrm>
              <a:off x="295350" y="259019"/>
              <a:ext cx="614400" cy="614400"/>
            </a:xfrm>
            <a:prstGeom prst="rect">
              <a:avLst/>
            </a:prstGeom>
            <a:solidFill>
              <a:srgbClr val="161E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" name="Google Shape;30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83974" y="259025"/>
              <a:ext cx="320375" cy="6100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8" name="Google Shape;308;p24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128464" y="818736"/>
            <a:ext cx="9360000" cy="72000"/>
          </a:xfrm>
          <a:prstGeom prst="rect">
            <a:avLst/>
          </a:prstGeom>
          <a:gradFill>
            <a:gsLst>
              <a:gs pos="0">
                <a:srgbClr val="0F243E"/>
              </a:gs>
              <a:gs pos="68000">
                <a:srgbClr val="0F243E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 txBox="1"/>
          <p:nvPr>
            <p:ph idx="12" type="sldNum"/>
          </p:nvPr>
        </p:nvSpPr>
        <p:spPr>
          <a:xfrm>
            <a:off x="7099300" y="6356351"/>
            <a:ext cx="23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3022325" y="2518125"/>
            <a:ext cx="8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1月</a:t>
            </a:r>
            <a:endParaRPr b="0" i="0" sz="18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776535" y="1770771"/>
            <a:ext cx="648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CV：資料請求＋体験授業+qubo</a:t>
            </a:r>
            <a:endParaRPr b="0" i="0" sz="16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116440" y="956361"/>
            <a:ext cx="97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1月はCVは月末にかけて下降する推移する傾向があります。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ja-JP" sz="17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前半に予算を使用していくように運用を調整します。</a:t>
            </a:r>
            <a:endParaRPr b="0" i="0" sz="17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6655175" y="2518125"/>
            <a:ext cx="8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2</a:t>
            </a:r>
            <a:r>
              <a:rPr b="0" i="0" lang="ja-JP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月</a:t>
            </a:r>
            <a:endParaRPr b="0" i="0" sz="18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15" name="Google Shape;31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425" y="2989525"/>
            <a:ext cx="7711147" cy="316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7172" y="2989536"/>
            <a:ext cx="792628" cy="784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TOSHIBA</dc:creator>
</cp:coreProperties>
</file>